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x="18288000" cy="10287000"/>
  <p:notesSz cx="6858000" cy="9144000"/>
  <p:embeddedFontLst>
    <p:embeddedFont>
      <p:font typeface="Times New Roman Bold" charset="1" panose="02030802070405020303"/>
      <p:regular r:id="rId27"/>
    </p:embeddedFont>
    <p:embeddedFont>
      <p:font typeface="Times New Roman" charset="1" panose="02030502070405020303"/>
      <p:regular r:id="rId28"/>
    </p:embeddedFont>
    <p:embeddedFont>
      <p:font typeface="Canva Sans Bold" charset="1" panose="020B0803030501040103"/>
      <p:regular r:id="rId29"/>
    </p:embeddedFont>
    <p:embeddedFont>
      <p:font typeface="IBM Plex Serif Italics" charset="1" panose="02060503050406000203"/>
      <p:regular r:id="rId30"/>
    </p:embeddedFont>
    <p:embeddedFont>
      <p:font typeface="Open Sans Bold" charset="1" panose="020B0806030504020204"/>
      <p:regular r:id="rId31"/>
    </p:embeddedFont>
    <p:embeddedFont>
      <p:font typeface="IBM Plex Serif" charset="1" panose="02060503050406000203"/>
      <p:regular r:id="rId32"/>
    </p:embeddedFont>
    <p:embeddedFont>
      <p:font typeface="Canva Sans" charset="1" panose="020B0503030501040103"/>
      <p:regular r:id="rId33"/>
    </p:embeddedFont>
    <p:embeddedFont>
      <p:font typeface="IBM Plex Serif Bold" charset="1" panose="02060803050406000203"/>
      <p:regular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jpeg" Type="http://schemas.openxmlformats.org/officeDocument/2006/relationships/image"/><Relationship Id="rId5" Target="../media/image4.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jpeg" Type="http://schemas.openxmlformats.org/officeDocument/2006/relationships/image"/><Relationship Id="rId3" Target="../media/image7.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3029214"/>
            <a:ext cx="18288000" cy="6158912"/>
            <a:chOff x="0" y="0"/>
            <a:chExt cx="24384000" cy="8211882"/>
          </a:xfrm>
        </p:grpSpPr>
        <p:sp>
          <p:nvSpPr>
            <p:cNvPr name="Freeform 4" id="4"/>
            <p:cNvSpPr/>
            <p:nvPr/>
          </p:nvSpPr>
          <p:spPr>
            <a:xfrm flipH="false" flipV="false" rot="0">
              <a:off x="0" y="0"/>
              <a:ext cx="24384000" cy="8211820"/>
            </a:xfrm>
            <a:custGeom>
              <a:avLst/>
              <a:gdLst/>
              <a:ahLst/>
              <a:cxnLst/>
              <a:rect r="r" b="b" t="t" l="l"/>
              <a:pathLst>
                <a:path h="8211820" w="24384000">
                  <a:moveTo>
                    <a:pt x="0" y="0"/>
                  </a:moveTo>
                  <a:lnTo>
                    <a:pt x="24384000" y="0"/>
                  </a:lnTo>
                  <a:lnTo>
                    <a:pt x="24384000" y="8211820"/>
                  </a:lnTo>
                  <a:lnTo>
                    <a:pt x="0" y="8211820"/>
                  </a:lnTo>
                  <a:close/>
                </a:path>
              </a:pathLst>
            </a:custGeom>
            <a:gradFill rotWithShape="true">
              <a:gsLst>
                <a:gs pos="0">
                  <a:srgbClr val="DFDBD5">
                    <a:alpha val="0"/>
                  </a:srgbClr>
                </a:gs>
                <a:gs pos="100000">
                  <a:srgbClr val="DFDBD5">
                    <a:alpha val="100000"/>
                  </a:srgbClr>
                </a:gs>
              </a:gsLst>
              <a:lin ang="5400000"/>
            </a:gradFill>
          </p:spPr>
        </p:sp>
      </p:grpSp>
      <p:sp>
        <p:nvSpPr>
          <p:cNvPr name="Freeform 5" id="5"/>
          <p:cNvSpPr/>
          <p:nvPr/>
        </p:nvSpPr>
        <p:spPr>
          <a:xfrm flipH="false" flipV="false" rot="0">
            <a:off x="0" y="9189720"/>
            <a:ext cx="18288000" cy="1114425"/>
          </a:xfrm>
          <a:custGeom>
            <a:avLst/>
            <a:gdLst/>
            <a:ahLst/>
            <a:cxnLst/>
            <a:rect r="r" b="b" t="t" l="l"/>
            <a:pathLst>
              <a:path h="1114425" w="18288000">
                <a:moveTo>
                  <a:pt x="0" y="0"/>
                </a:moveTo>
                <a:lnTo>
                  <a:pt x="18288000" y="0"/>
                </a:lnTo>
                <a:lnTo>
                  <a:pt x="18288000" y="1114425"/>
                </a:lnTo>
                <a:lnTo>
                  <a:pt x="0" y="1114425"/>
                </a:lnTo>
                <a:lnTo>
                  <a:pt x="0" y="0"/>
                </a:lnTo>
                <a:close/>
              </a:path>
            </a:pathLst>
          </a:custGeom>
          <a:blipFill>
            <a:blip r:embed="rId4"/>
            <a:stretch>
              <a:fillRect l="0" t="-1538" r="0" b="1537"/>
            </a:stretch>
          </a:blipFill>
        </p:spPr>
      </p:sp>
      <p:sp>
        <p:nvSpPr>
          <p:cNvPr name="AutoShape 6" id="6"/>
          <p:cNvSpPr/>
          <p:nvPr/>
        </p:nvSpPr>
        <p:spPr>
          <a:xfrm rot="3577">
            <a:off x="-9530" y="9192620"/>
            <a:ext cx="18307060" cy="0"/>
          </a:xfrm>
          <a:prstGeom prst="line">
            <a:avLst/>
          </a:prstGeom>
          <a:ln cap="rnd" w="9525">
            <a:solidFill>
              <a:srgbClr val="000001">
                <a:alpha val="19608"/>
              </a:srgbClr>
            </a:solidFill>
            <a:prstDash val="solid"/>
            <a:headEnd type="none" len="sm" w="sm"/>
            <a:tailEnd type="none" len="sm" w="sm"/>
          </a:ln>
        </p:spPr>
      </p:sp>
      <p:sp>
        <p:nvSpPr>
          <p:cNvPr name="AutoShape 7" id="7"/>
          <p:cNvSpPr/>
          <p:nvPr/>
        </p:nvSpPr>
        <p:spPr>
          <a:xfrm rot="12590">
            <a:off x="3602814" y="5283288"/>
            <a:ext cx="13003320" cy="0"/>
          </a:xfrm>
          <a:prstGeom prst="line">
            <a:avLst/>
          </a:prstGeom>
          <a:ln cap="rnd" w="28575">
            <a:solidFill>
              <a:srgbClr val="B71E42"/>
            </a:solidFill>
            <a:prstDash val="solid"/>
            <a:headEnd type="none" len="sm" w="sm"/>
            <a:tailEnd type="none" len="sm" w="sm"/>
          </a:ln>
        </p:spPr>
      </p:sp>
      <p:grpSp>
        <p:nvGrpSpPr>
          <p:cNvPr name="Group 8" id="8"/>
          <p:cNvGrpSpPr/>
          <p:nvPr/>
        </p:nvGrpSpPr>
        <p:grpSpPr>
          <a:xfrm rot="0">
            <a:off x="1940482" y="788637"/>
            <a:ext cx="16849287" cy="1466433"/>
            <a:chOff x="0" y="0"/>
            <a:chExt cx="22465716" cy="1955244"/>
          </a:xfrm>
        </p:grpSpPr>
        <p:sp>
          <p:nvSpPr>
            <p:cNvPr name="Freeform 9" id="9"/>
            <p:cNvSpPr/>
            <p:nvPr/>
          </p:nvSpPr>
          <p:spPr>
            <a:xfrm flipH="false" flipV="false" rot="0">
              <a:off x="0" y="0"/>
              <a:ext cx="22465716" cy="1955244"/>
            </a:xfrm>
            <a:custGeom>
              <a:avLst/>
              <a:gdLst/>
              <a:ahLst/>
              <a:cxnLst/>
              <a:rect r="r" b="b" t="t" l="l"/>
              <a:pathLst>
                <a:path h="1955244" w="22465716">
                  <a:moveTo>
                    <a:pt x="0" y="0"/>
                  </a:moveTo>
                  <a:lnTo>
                    <a:pt x="22465716" y="0"/>
                  </a:lnTo>
                  <a:lnTo>
                    <a:pt x="22465716" y="1955244"/>
                  </a:lnTo>
                  <a:lnTo>
                    <a:pt x="0" y="1955244"/>
                  </a:lnTo>
                  <a:close/>
                </a:path>
              </a:pathLst>
            </a:custGeom>
            <a:solidFill>
              <a:srgbClr val="000000">
                <a:alpha val="0"/>
              </a:srgbClr>
            </a:solidFill>
          </p:spPr>
        </p:sp>
        <p:sp>
          <p:nvSpPr>
            <p:cNvPr name="TextBox 10" id="10"/>
            <p:cNvSpPr txBox="true"/>
            <p:nvPr/>
          </p:nvSpPr>
          <p:spPr>
            <a:xfrm>
              <a:off x="0" y="-38100"/>
              <a:ext cx="22465716" cy="1993344"/>
            </a:xfrm>
            <a:prstGeom prst="rect">
              <a:avLst/>
            </a:prstGeom>
          </p:spPr>
          <p:txBody>
            <a:bodyPr anchor="b" rtlCol="false" tIns="0" lIns="0" bIns="0" rIns="0"/>
            <a:lstStyle/>
            <a:p>
              <a:pPr algn="ctr">
                <a:lnSpc>
                  <a:spcPts val="5184"/>
                </a:lnSpc>
              </a:pPr>
              <a:r>
                <a:rPr lang="en-US" sz="4800" b="true">
                  <a:solidFill>
                    <a:srgbClr val="000000"/>
                  </a:solidFill>
                  <a:latin typeface="Times New Roman Bold"/>
                  <a:ea typeface="Times New Roman Bold"/>
                  <a:cs typeface="Times New Roman Bold"/>
                  <a:sym typeface="Times New Roman Bold"/>
                </a:rPr>
                <a:t>MGM’s College of Engineering, Nanded</a:t>
              </a:r>
            </a:p>
            <a:p>
              <a:pPr algn="ctr">
                <a:lnSpc>
                  <a:spcPts val="5184"/>
                </a:lnSpc>
              </a:pPr>
              <a:r>
                <a:rPr lang="en-US" sz="4800" b="true">
                  <a:solidFill>
                    <a:srgbClr val="000000"/>
                  </a:solidFill>
                  <a:latin typeface="Times New Roman Bold"/>
                  <a:ea typeface="Times New Roman Bold"/>
                  <a:cs typeface="Times New Roman Bold"/>
                  <a:sym typeface="Times New Roman Bold"/>
                </a:rPr>
                <a:t>Department of Computer Science and Engineering</a:t>
              </a:r>
            </a:p>
          </p:txBody>
        </p:sp>
      </p:grpSp>
      <p:grpSp>
        <p:nvGrpSpPr>
          <p:cNvPr name="Group 11" id="11"/>
          <p:cNvGrpSpPr/>
          <p:nvPr/>
        </p:nvGrpSpPr>
        <p:grpSpPr>
          <a:xfrm rot="0">
            <a:off x="795274" y="3488696"/>
            <a:ext cx="16951726" cy="2093214"/>
            <a:chOff x="0" y="0"/>
            <a:chExt cx="22602302" cy="2790952"/>
          </a:xfrm>
        </p:grpSpPr>
        <p:sp>
          <p:nvSpPr>
            <p:cNvPr name="Freeform 12" id="12"/>
            <p:cNvSpPr/>
            <p:nvPr/>
          </p:nvSpPr>
          <p:spPr>
            <a:xfrm flipH="false" flipV="false" rot="0">
              <a:off x="0" y="0"/>
              <a:ext cx="22602303" cy="2790952"/>
            </a:xfrm>
            <a:custGeom>
              <a:avLst/>
              <a:gdLst/>
              <a:ahLst/>
              <a:cxnLst/>
              <a:rect r="r" b="b" t="t" l="l"/>
              <a:pathLst>
                <a:path h="2790952" w="22602303">
                  <a:moveTo>
                    <a:pt x="0" y="0"/>
                  </a:moveTo>
                  <a:lnTo>
                    <a:pt x="22602303" y="0"/>
                  </a:lnTo>
                  <a:lnTo>
                    <a:pt x="22602303" y="2790952"/>
                  </a:lnTo>
                  <a:lnTo>
                    <a:pt x="0" y="2790952"/>
                  </a:lnTo>
                  <a:close/>
                </a:path>
              </a:pathLst>
            </a:custGeom>
            <a:solidFill>
              <a:srgbClr val="000000">
                <a:alpha val="0"/>
              </a:srgbClr>
            </a:solidFill>
          </p:spPr>
        </p:sp>
        <p:sp>
          <p:nvSpPr>
            <p:cNvPr name="TextBox 13" id="13"/>
            <p:cNvSpPr txBox="true"/>
            <p:nvPr/>
          </p:nvSpPr>
          <p:spPr>
            <a:xfrm>
              <a:off x="0" y="-85725"/>
              <a:ext cx="22602302" cy="2876677"/>
            </a:xfrm>
            <a:prstGeom prst="rect">
              <a:avLst/>
            </a:prstGeom>
          </p:spPr>
          <p:txBody>
            <a:bodyPr anchor="t" rtlCol="false" tIns="0" lIns="0" bIns="0" rIns="0"/>
            <a:lstStyle/>
            <a:p>
              <a:pPr algn="ctr">
                <a:lnSpc>
                  <a:spcPts val="5040"/>
                </a:lnSpc>
              </a:pPr>
              <a:r>
                <a:rPr lang="en-US" sz="4200" b="true">
                  <a:solidFill>
                    <a:srgbClr val="000000"/>
                  </a:solidFill>
                  <a:latin typeface="Times New Roman Bold"/>
                  <a:ea typeface="Times New Roman Bold"/>
                  <a:cs typeface="Times New Roman Bold"/>
                  <a:sym typeface="Times New Roman Bold"/>
                </a:rPr>
                <a:t>Mini Project</a:t>
              </a:r>
            </a:p>
            <a:p>
              <a:pPr algn="ctr">
                <a:lnSpc>
                  <a:spcPts val="5040"/>
                </a:lnSpc>
              </a:pPr>
              <a:r>
                <a:rPr lang="en-US" sz="4200" b="true">
                  <a:solidFill>
                    <a:srgbClr val="000000"/>
                  </a:solidFill>
                  <a:latin typeface="Times New Roman Bold"/>
                  <a:ea typeface="Times New Roman Bold"/>
                  <a:cs typeface="Times New Roman Bold"/>
                  <a:sym typeface="Times New Roman Bold"/>
                </a:rPr>
                <a:t>Topic : Bloom Skin</a:t>
              </a:r>
            </a:p>
            <a:p>
              <a:pPr algn="ctr">
                <a:lnSpc>
                  <a:spcPts val="5040"/>
                </a:lnSpc>
              </a:pPr>
            </a:p>
          </p:txBody>
        </p:sp>
      </p:grpSp>
      <p:grpSp>
        <p:nvGrpSpPr>
          <p:cNvPr name="Group 14" id="14"/>
          <p:cNvGrpSpPr/>
          <p:nvPr/>
        </p:nvGrpSpPr>
        <p:grpSpPr>
          <a:xfrm rot="0">
            <a:off x="795274" y="5958531"/>
            <a:ext cx="7520985" cy="1854803"/>
            <a:chOff x="0" y="0"/>
            <a:chExt cx="10027980" cy="2473071"/>
          </a:xfrm>
        </p:grpSpPr>
        <p:sp>
          <p:nvSpPr>
            <p:cNvPr name="Freeform 15" id="15"/>
            <p:cNvSpPr/>
            <p:nvPr/>
          </p:nvSpPr>
          <p:spPr>
            <a:xfrm flipH="false" flipV="false" rot="0">
              <a:off x="0" y="0"/>
              <a:ext cx="10027980" cy="2473071"/>
            </a:xfrm>
            <a:custGeom>
              <a:avLst/>
              <a:gdLst/>
              <a:ahLst/>
              <a:cxnLst/>
              <a:rect r="r" b="b" t="t" l="l"/>
              <a:pathLst>
                <a:path h="2473071" w="10027980">
                  <a:moveTo>
                    <a:pt x="0" y="0"/>
                  </a:moveTo>
                  <a:lnTo>
                    <a:pt x="10027980" y="0"/>
                  </a:lnTo>
                  <a:lnTo>
                    <a:pt x="10027980" y="2473071"/>
                  </a:lnTo>
                  <a:lnTo>
                    <a:pt x="0" y="2473071"/>
                  </a:lnTo>
                  <a:close/>
                </a:path>
              </a:pathLst>
            </a:custGeom>
            <a:solidFill>
              <a:srgbClr val="000000">
                <a:alpha val="0"/>
              </a:srgbClr>
            </a:solidFill>
          </p:spPr>
        </p:sp>
        <p:sp>
          <p:nvSpPr>
            <p:cNvPr name="TextBox 16" id="16"/>
            <p:cNvSpPr txBox="true"/>
            <p:nvPr/>
          </p:nvSpPr>
          <p:spPr>
            <a:xfrm>
              <a:off x="0" y="-66675"/>
              <a:ext cx="10027980" cy="2539746"/>
            </a:xfrm>
            <a:prstGeom prst="rect">
              <a:avLst/>
            </a:prstGeom>
          </p:spPr>
          <p:txBody>
            <a:bodyPr anchor="t" rtlCol="false" tIns="0" lIns="0" bIns="0" rIns="0"/>
            <a:lstStyle/>
            <a:p>
              <a:pPr algn="l">
                <a:lnSpc>
                  <a:spcPts val="3600"/>
                </a:lnSpc>
              </a:pPr>
              <a:r>
                <a:rPr lang="en-US" sz="3000" b="true">
                  <a:solidFill>
                    <a:srgbClr val="000000"/>
                  </a:solidFill>
                  <a:latin typeface="Times New Roman Bold"/>
                  <a:ea typeface="Times New Roman Bold"/>
                  <a:cs typeface="Times New Roman Bold"/>
                  <a:sym typeface="Times New Roman Bold"/>
                </a:rPr>
                <a:t>Presented by:</a:t>
              </a:r>
            </a:p>
            <a:p>
              <a:pPr algn="l">
                <a:lnSpc>
                  <a:spcPts val="3600"/>
                </a:lnSpc>
              </a:pPr>
              <a:r>
                <a:rPr lang="en-US" sz="3000">
                  <a:solidFill>
                    <a:srgbClr val="000000"/>
                  </a:solidFill>
                  <a:latin typeface="Times New Roman"/>
                  <a:ea typeface="Times New Roman"/>
                  <a:cs typeface="Times New Roman"/>
                  <a:sym typeface="Times New Roman"/>
                </a:rPr>
                <a:t>Miss. Talat Siddiqui</a:t>
              </a:r>
              <a:r>
                <a:rPr lang="en-US" b="true" sz="3000">
                  <a:solidFill>
                    <a:srgbClr val="000000"/>
                  </a:solidFill>
                  <a:latin typeface="Times New Roman Bold"/>
                  <a:ea typeface="Times New Roman Bold"/>
                  <a:cs typeface="Times New Roman Bold"/>
                  <a:sym typeface="Times New Roman Bold"/>
                </a:rPr>
                <a:t> </a:t>
              </a:r>
              <a:r>
                <a:rPr lang="en-US" sz="3000">
                  <a:solidFill>
                    <a:srgbClr val="000000"/>
                  </a:solidFill>
                  <a:latin typeface="Times New Roman"/>
                  <a:ea typeface="Times New Roman"/>
                  <a:cs typeface="Times New Roman"/>
                  <a:sym typeface="Times New Roman"/>
                </a:rPr>
                <a:t>(Roll No:101)</a:t>
              </a:r>
            </a:p>
            <a:p>
              <a:pPr algn="l">
                <a:lnSpc>
                  <a:spcPts val="3240"/>
                </a:lnSpc>
              </a:pPr>
              <a:r>
                <a:rPr lang="en-US" sz="2700">
                  <a:solidFill>
                    <a:srgbClr val="000000"/>
                  </a:solidFill>
                  <a:latin typeface="Times New Roman"/>
                  <a:ea typeface="Times New Roman"/>
                  <a:cs typeface="Times New Roman"/>
                  <a:sym typeface="Times New Roman"/>
                </a:rPr>
                <a:t>Miss. Rasika Rakhewar (Roll No:108)</a:t>
              </a:r>
            </a:p>
            <a:p>
              <a:pPr algn="l">
                <a:lnSpc>
                  <a:spcPts val="3240"/>
                </a:lnSpc>
              </a:pPr>
              <a:r>
                <a:rPr lang="en-US" b="true" sz="2700">
                  <a:solidFill>
                    <a:srgbClr val="000000"/>
                  </a:solidFill>
                  <a:latin typeface="Times New Roman Bold"/>
                  <a:ea typeface="Times New Roman Bold"/>
                  <a:cs typeface="Times New Roman Bold"/>
                  <a:sym typeface="Times New Roman Bold"/>
                </a:rPr>
                <a:t>Class TY CSE - A</a:t>
              </a:r>
            </a:p>
          </p:txBody>
        </p:sp>
      </p:grpSp>
      <p:grpSp>
        <p:nvGrpSpPr>
          <p:cNvPr name="Group 17" id="17"/>
          <p:cNvGrpSpPr/>
          <p:nvPr/>
        </p:nvGrpSpPr>
        <p:grpSpPr>
          <a:xfrm rot="0">
            <a:off x="13036491" y="6212446"/>
            <a:ext cx="4456234" cy="1592744"/>
            <a:chOff x="0" y="0"/>
            <a:chExt cx="5941646" cy="2123658"/>
          </a:xfrm>
        </p:grpSpPr>
        <p:sp>
          <p:nvSpPr>
            <p:cNvPr name="Freeform 18" id="18"/>
            <p:cNvSpPr/>
            <p:nvPr/>
          </p:nvSpPr>
          <p:spPr>
            <a:xfrm flipH="false" flipV="false" rot="0">
              <a:off x="0" y="0"/>
              <a:ext cx="5941646" cy="2123658"/>
            </a:xfrm>
            <a:custGeom>
              <a:avLst/>
              <a:gdLst/>
              <a:ahLst/>
              <a:cxnLst/>
              <a:rect r="r" b="b" t="t" l="l"/>
              <a:pathLst>
                <a:path h="2123658" w="5941646">
                  <a:moveTo>
                    <a:pt x="0" y="0"/>
                  </a:moveTo>
                  <a:lnTo>
                    <a:pt x="5941646" y="0"/>
                  </a:lnTo>
                  <a:lnTo>
                    <a:pt x="5941646" y="2123658"/>
                  </a:lnTo>
                  <a:lnTo>
                    <a:pt x="0" y="2123658"/>
                  </a:lnTo>
                  <a:close/>
                </a:path>
              </a:pathLst>
            </a:custGeom>
            <a:solidFill>
              <a:srgbClr val="000000">
                <a:alpha val="0"/>
              </a:srgbClr>
            </a:solidFill>
          </p:spPr>
        </p:sp>
        <p:sp>
          <p:nvSpPr>
            <p:cNvPr name="TextBox 19" id="19"/>
            <p:cNvSpPr txBox="true"/>
            <p:nvPr/>
          </p:nvSpPr>
          <p:spPr>
            <a:xfrm>
              <a:off x="0" y="-66675"/>
              <a:ext cx="5941646" cy="2190333"/>
            </a:xfrm>
            <a:prstGeom prst="rect">
              <a:avLst/>
            </a:prstGeom>
          </p:spPr>
          <p:txBody>
            <a:bodyPr anchor="t" rtlCol="false" tIns="0" lIns="0" bIns="0" rIns="0"/>
            <a:lstStyle/>
            <a:p>
              <a:pPr algn="l">
                <a:lnSpc>
                  <a:spcPts val="3779"/>
                </a:lnSpc>
              </a:pPr>
              <a:r>
                <a:rPr lang="en-US" sz="3150" b="true">
                  <a:solidFill>
                    <a:srgbClr val="000000"/>
                  </a:solidFill>
                  <a:latin typeface="Times New Roman Bold"/>
                  <a:ea typeface="Times New Roman Bold"/>
                  <a:cs typeface="Times New Roman Bold"/>
                  <a:sym typeface="Times New Roman Bold"/>
                </a:rPr>
                <a:t>Guided by :</a:t>
              </a:r>
            </a:p>
            <a:p>
              <a:pPr algn="l">
                <a:lnSpc>
                  <a:spcPts val="3779"/>
                </a:lnSpc>
              </a:pPr>
              <a:r>
                <a:rPr lang="en-US" sz="3150">
                  <a:solidFill>
                    <a:srgbClr val="000000"/>
                  </a:solidFill>
                  <a:latin typeface="Times New Roman"/>
                  <a:ea typeface="Times New Roman"/>
                  <a:cs typeface="Times New Roman"/>
                  <a:sym typeface="Times New Roman"/>
                </a:rPr>
                <a:t>Dr. Shital  Y. Gaikwad</a:t>
              </a:r>
            </a:p>
            <a:p>
              <a:pPr algn="l">
                <a:lnSpc>
                  <a:spcPts val="3779"/>
                </a:lnSpc>
              </a:pPr>
            </a:p>
          </p:txBody>
        </p:sp>
      </p:grpSp>
      <p:sp>
        <p:nvSpPr>
          <p:cNvPr name="Freeform 20" id="20"/>
          <p:cNvSpPr/>
          <p:nvPr/>
        </p:nvSpPr>
        <p:spPr>
          <a:xfrm flipH="false" flipV="false" rot="0">
            <a:off x="1346433" y="734673"/>
            <a:ext cx="1879132" cy="1746258"/>
          </a:xfrm>
          <a:custGeom>
            <a:avLst/>
            <a:gdLst/>
            <a:ahLst/>
            <a:cxnLst/>
            <a:rect r="r" b="b" t="t" l="l"/>
            <a:pathLst>
              <a:path h="1746258" w="1879132">
                <a:moveTo>
                  <a:pt x="0" y="0"/>
                </a:moveTo>
                <a:lnTo>
                  <a:pt x="1879132" y="0"/>
                </a:lnTo>
                <a:lnTo>
                  <a:pt x="1879132" y="1746258"/>
                </a:lnTo>
                <a:lnTo>
                  <a:pt x="0" y="1746258"/>
                </a:lnTo>
                <a:lnTo>
                  <a:pt x="0" y="0"/>
                </a:lnTo>
                <a:close/>
              </a:path>
            </a:pathLst>
          </a:custGeom>
          <a:blipFill>
            <a:blip r:embed="rId5"/>
            <a:stretch>
              <a:fillRect l="0" t="-1549" r="0" b="-1549"/>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grpSp>
        <p:nvGrpSpPr>
          <p:cNvPr name="Group 2" id="2"/>
          <p:cNvGrpSpPr/>
          <p:nvPr/>
        </p:nvGrpSpPr>
        <p:grpSpPr>
          <a:xfrm rot="0">
            <a:off x="3396193" y="2134837"/>
            <a:ext cx="6401738" cy="6017327"/>
            <a:chOff x="0" y="0"/>
            <a:chExt cx="8535651" cy="8023103"/>
          </a:xfrm>
        </p:grpSpPr>
        <p:sp>
          <p:nvSpPr>
            <p:cNvPr name="TextBox 3" id="3"/>
            <p:cNvSpPr txBox="true"/>
            <p:nvPr/>
          </p:nvSpPr>
          <p:spPr>
            <a:xfrm rot="0">
              <a:off x="0" y="2741596"/>
              <a:ext cx="8535651" cy="5281507"/>
            </a:xfrm>
            <a:prstGeom prst="rect">
              <a:avLst/>
            </a:prstGeom>
          </p:spPr>
          <p:txBody>
            <a:bodyPr anchor="t" rtlCol="false" tIns="0" lIns="0" bIns="0" rIns="0">
              <a:spAutoFit/>
            </a:bodyPr>
            <a:lstStyle/>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Introduction</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Objectives</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Technology Stack</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Literature Survey</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System Architecture</a:t>
              </a:r>
            </a:p>
            <a:p>
              <a:pPr algn="l">
                <a:lnSpc>
                  <a:spcPts val="5319"/>
                </a:lnSpc>
                <a:spcBef>
                  <a:spcPct val="0"/>
                </a:spcBef>
              </a:pPr>
            </a:p>
          </p:txBody>
        </p:sp>
        <p:sp>
          <p:nvSpPr>
            <p:cNvPr name="TextBox 4" id="4"/>
            <p:cNvSpPr txBox="true"/>
            <p:nvPr/>
          </p:nvSpPr>
          <p:spPr>
            <a:xfrm rot="0">
              <a:off x="0" y="190500"/>
              <a:ext cx="8535651" cy="1731432"/>
            </a:xfrm>
            <a:prstGeom prst="rect">
              <a:avLst/>
            </a:prstGeom>
          </p:spPr>
          <p:txBody>
            <a:bodyPr anchor="t" rtlCol="false" tIns="0" lIns="0" bIns="0" rIns="0">
              <a:spAutoFit/>
            </a:bodyPr>
            <a:lstStyle/>
            <a:p>
              <a:pPr algn="l" marL="0" indent="0" lvl="0">
                <a:lnSpc>
                  <a:spcPts val="9499"/>
                </a:lnSpc>
              </a:pPr>
              <a:r>
                <a:rPr lang="en-US" sz="9499" i="true" spc="-379">
                  <a:solidFill>
                    <a:srgbClr val="36211B"/>
                  </a:solidFill>
                  <a:latin typeface="IBM Plex Serif Italics"/>
                  <a:ea typeface="IBM Plex Serif Italics"/>
                  <a:cs typeface="IBM Plex Serif Italics"/>
                  <a:sym typeface="IBM Plex Serif Italics"/>
                </a:rPr>
                <a:t>Content</a:t>
              </a:r>
            </a:p>
          </p:txBody>
        </p:sp>
      </p:grpSp>
      <p:sp>
        <p:nvSpPr>
          <p:cNvPr name="Freeform 5" id="5"/>
          <p:cNvSpPr/>
          <p:nvPr/>
        </p:nvSpPr>
        <p:spPr>
          <a:xfrm flipH="false" flipV="false" rot="0">
            <a:off x="1266626" y="3777249"/>
            <a:ext cx="1367991" cy="2732501"/>
          </a:xfrm>
          <a:custGeom>
            <a:avLst/>
            <a:gdLst/>
            <a:ahLst/>
            <a:cxnLst/>
            <a:rect r="r" b="b" t="t" l="l"/>
            <a:pathLst>
              <a:path h="2732501" w="1367991">
                <a:moveTo>
                  <a:pt x="0" y="0"/>
                </a:moveTo>
                <a:lnTo>
                  <a:pt x="1367991" y="0"/>
                </a:lnTo>
                <a:lnTo>
                  <a:pt x="1367991" y="2732502"/>
                </a:lnTo>
                <a:lnTo>
                  <a:pt x="0" y="27325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9531499" y="3998898"/>
            <a:ext cx="6401738" cy="3980180"/>
          </a:xfrm>
          <a:prstGeom prst="rect">
            <a:avLst/>
          </a:prstGeom>
        </p:spPr>
        <p:txBody>
          <a:bodyPr anchor="t" rtlCol="false" tIns="0" lIns="0" bIns="0" rIns="0">
            <a:spAutoFit/>
          </a:bodyPr>
          <a:lstStyle/>
          <a:p>
            <a:pPr algn="l" marL="820419" indent="-410209" lvl="1">
              <a:lnSpc>
                <a:spcPts val="5319"/>
              </a:lnSpc>
              <a:buFont typeface="Arial"/>
              <a:buChar char="•"/>
            </a:pPr>
            <a:r>
              <a:rPr lang="en-US" b="true" sz="3799" spc="-75">
                <a:solidFill>
                  <a:srgbClr val="36211B"/>
                </a:solidFill>
                <a:latin typeface="Canva Sans Bold"/>
                <a:ea typeface="Canva Sans Bold"/>
                <a:cs typeface="Canva Sans Bold"/>
                <a:sym typeface="Canva Sans Bold"/>
              </a:rPr>
              <a:t>Methodology</a:t>
            </a:r>
          </a:p>
          <a:p>
            <a:pPr algn="l" marL="820419" indent="-410209" lvl="1">
              <a:lnSpc>
                <a:spcPts val="5319"/>
              </a:lnSpc>
              <a:buFont typeface="Arial"/>
              <a:buChar char="•"/>
            </a:pPr>
            <a:r>
              <a:rPr lang="en-US" b="true" sz="3799" spc="-75">
                <a:solidFill>
                  <a:srgbClr val="36211B"/>
                </a:solidFill>
                <a:latin typeface="Canva Sans Bold"/>
                <a:ea typeface="Canva Sans Bold"/>
                <a:cs typeface="Canva Sans Bold"/>
                <a:sym typeface="Canva Sans Bold"/>
              </a:rPr>
              <a:t>Imaplementation</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User Flow &amp; Demo</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Future Scope</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Conclusion</a:t>
            </a:r>
          </a:p>
          <a:p>
            <a:pPr algn="l" marL="820419" indent="-410209" lvl="1">
              <a:lnSpc>
                <a:spcPts val="5319"/>
              </a:lnSpc>
              <a:spcBef>
                <a:spcPct val="0"/>
              </a:spcBef>
              <a:buFont typeface="Arial"/>
              <a:buChar char="•"/>
            </a:pPr>
            <a:r>
              <a:rPr lang="en-US" b="true" sz="3799" spc="-75">
                <a:solidFill>
                  <a:srgbClr val="36211B"/>
                </a:solidFill>
                <a:latin typeface="Canva Sans Bold"/>
                <a:ea typeface="Canva Sans Bold"/>
                <a:cs typeface="Canva Sans Bold"/>
                <a:sym typeface="Canva Sans Bold"/>
              </a:rPr>
              <a:t>References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grpSp>
        <p:nvGrpSpPr>
          <p:cNvPr name="Group 2" id="2"/>
          <p:cNvGrpSpPr/>
          <p:nvPr/>
        </p:nvGrpSpPr>
        <p:grpSpPr>
          <a:xfrm rot="0">
            <a:off x="3396193" y="1916396"/>
            <a:ext cx="12741423" cy="6454208"/>
            <a:chOff x="0" y="0"/>
            <a:chExt cx="16988563" cy="8605611"/>
          </a:xfrm>
        </p:grpSpPr>
        <p:sp>
          <p:nvSpPr>
            <p:cNvPr name="TextBox 3" id="3"/>
            <p:cNvSpPr txBox="true"/>
            <p:nvPr/>
          </p:nvSpPr>
          <p:spPr>
            <a:xfrm rot="0">
              <a:off x="0" y="2699688"/>
              <a:ext cx="16988563" cy="5905923"/>
            </a:xfrm>
            <a:prstGeom prst="rect">
              <a:avLst/>
            </a:prstGeom>
          </p:spPr>
          <p:txBody>
            <a:bodyPr anchor="t" rtlCol="false" tIns="0" lIns="0" bIns="0" rIns="0">
              <a:spAutoFit/>
            </a:bodyPr>
            <a:lstStyle/>
            <a:p>
              <a:pPr algn="l" marL="604524" indent="-302262" lvl="1">
                <a:lnSpc>
                  <a:spcPts val="3920"/>
                </a:lnSpc>
                <a:spcBef>
                  <a:spcPct val="0"/>
                </a:spcBef>
                <a:buFont typeface="Arial"/>
                <a:buChar char="•"/>
              </a:pPr>
              <a:r>
                <a:rPr lang="en-US" b="true" sz="2800" spc="-56">
                  <a:solidFill>
                    <a:srgbClr val="000000"/>
                  </a:solidFill>
                  <a:latin typeface="Open Sans Bold"/>
                  <a:ea typeface="Open Sans Bold"/>
                  <a:cs typeface="Open Sans Bold"/>
                  <a:sym typeface="Open Sans Bold"/>
                </a:rPr>
                <a:t>Bloom Skin is an AI-powered skincare analysis web application designed to help users identify common skin conditions like acne, dark spots, and pigmentation from an image.</a:t>
              </a:r>
            </a:p>
            <a:p>
              <a:pPr algn="l" marL="604524" indent="-302262" lvl="1">
                <a:lnSpc>
                  <a:spcPts val="3920"/>
                </a:lnSpc>
                <a:spcBef>
                  <a:spcPct val="0"/>
                </a:spcBef>
                <a:buFont typeface="Arial"/>
                <a:buChar char="•"/>
              </a:pPr>
              <a:r>
                <a:rPr lang="en-US" b="true" sz="2800" spc="-56">
                  <a:solidFill>
                    <a:srgbClr val="000000"/>
                  </a:solidFill>
                  <a:latin typeface="Open Sans Bold"/>
                  <a:ea typeface="Open Sans Bold"/>
                  <a:cs typeface="Open Sans Bold"/>
                  <a:sym typeface="Open Sans Bold"/>
                </a:rPr>
                <a:t>Built using a modern MERN stack (MongoDB, Express.js, React, Node.js) and a Python-based AI model, it offers a seamless and responsive user experience.</a:t>
              </a:r>
            </a:p>
            <a:p>
              <a:pPr algn="l" marL="604524" indent="-302262" lvl="1">
                <a:lnSpc>
                  <a:spcPts val="3920"/>
                </a:lnSpc>
                <a:spcBef>
                  <a:spcPct val="0"/>
                </a:spcBef>
                <a:buFont typeface="Arial"/>
                <a:buChar char="•"/>
              </a:pPr>
              <a:r>
                <a:rPr lang="en-US" b="true" sz="2800" spc="-56">
                  <a:solidFill>
                    <a:srgbClr val="000000"/>
                  </a:solidFill>
                  <a:latin typeface="Open Sans Bold"/>
                  <a:ea typeface="Open Sans Bold"/>
                  <a:cs typeface="Open Sans Bold"/>
                  <a:sym typeface="Open Sans Bold"/>
                </a:rPr>
                <a:t>The project’s goal is to bridge the gap between technology and personal wellness, providing users with a first step in understanding and caring for their skin.</a:t>
              </a:r>
            </a:p>
          </p:txBody>
        </p:sp>
        <p:sp>
          <p:nvSpPr>
            <p:cNvPr name="TextBox 4" id="4"/>
            <p:cNvSpPr txBox="true"/>
            <p:nvPr/>
          </p:nvSpPr>
          <p:spPr>
            <a:xfrm rot="0">
              <a:off x="0" y="171450"/>
              <a:ext cx="16988563" cy="1689524"/>
            </a:xfrm>
            <a:prstGeom prst="rect">
              <a:avLst/>
            </a:prstGeom>
          </p:spPr>
          <p:txBody>
            <a:bodyPr anchor="t" rtlCol="false" tIns="0" lIns="0" bIns="0" rIns="0">
              <a:spAutoFit/>
            </a:bodyPr>
            <a:lstStyle/>
            <a:p>
              <a:pPr algn="l" marL="0" indent="0" lvl="0">
                <a:lnSpc>
                  <a:spcPts val="9200"/>
                </a:lnSpc>
              </a:pPr>
              <a:r>
                <a:rPr lang="en-US" b="true" sz="9200">
                  <a:solidFill>
                    <a:srgbClr val="000000"/>
                  </a:solidFill>
                  <a:latin typeface="Open Sans Bold"/>
                  <a:ea typeface="Open Sans Bold"/>
                  <a:cs typeface="Open Sans Bold"/>
                  <a:sym typeface="Open Sans Bold"/>
                </a:rPr>
                <a:t>Introduction</a:t>
              </a:r>
            </a:p>
          </p:txBody>
        </p:sp>
      </p:grpSp>
      <p:sp>
        <p:nvSpPr>
          <p:cNvPr name="Freeform 5" id="5"/>
          <p:cNvSpPr/>
          <p:nvPr/>
        </p:nvSpPr>
        <p:spPr>
          <a:xfrm flipH="false" flipV="false" rot="0">
            <a:off x="1266626" y="3777249"/>
            <a:ext cx="1367991" cy="2732501"/>
          </a:xfrm>
          <a:custGeom>
            <a:avLst/>
            <a:gdLst/>
            <a:ahLst/>
            <a:cxnLst/>
            <a:rect r="r" b="b" t="t" l="l"/>
            <a:pathLst>
              <a:path h="2732501" w="1367991">
                <a:moveTo>
                  <a:pt x="0" y="0"/>
                </a:moveTo>
                <a:lnTo>
                  <a:pt x="1367991" y="0"/>
                </a:lnTo>
                <a:lnTo>
                  <a:pt x="1367991" y="2732502"/>
                </a:lnTo>
                <a:lnTo>
                  <a:pt x="0" y="27325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3921769"/>
            <a:ext cx="4477275" cy="622935"/>
          </a:xfrm>
          <a:prstGeom prst="rect">
            <a:avLst/>
          </a:prstGeom>
        </p:spPr>
        <p:txBody>
          <a:bodyPr anchor="t" rtlCol="false" tIns="0" lIns="0" bIns="0" rIns="0">
            <a:spAutoFit/>
          </a:bodyPr>
          <a:lstStyle/>
          <a:p>
            <a:pPr algn="l">
              <a:lnSpc>
                <a:spcPts val="5040"/>
              </a:lnSpc>
            </a:pPr>
            <a:r>
              <a:rPr lang="en-US" sz="3600" spc="-144">
                <a:solidFill>
                  <a:srgbClr val="36211B"/>
                </a:solidFill>
                <a:latin typeface="IBM Plex Serif"/>
                <a:ea typeface="IBM Plex Serif"/>
                <a:cs typeface="IBM Plex Serif"/>
                <a:sym typeface="IBM Plex Serif"/>
              </a:rPr>
              <a:t>AI Model Integration</a:t>
            </a:r>
          </a:p>
        </p:txBody>
      </p:sp>
      <p:sp>
        <p:nvSpPr>
          <p:cNvPr name="TextBox 4" id="4"/>
          <p:cNvSpPr txBox="true"/>
          <p:nvPr/>
        </p:nvSpPr>
        <p:spPr>
          <a:xfrm rot="0">
            <a:off x="1028700" y="5621029"/>
            <a:ext cx="4477275" cy="2910840"/>
          </a:xfrm>
          <a:prstGeom prst="rect">
            <a:avLst/>
          </a:prstGeom>
        </p:spPr>
        <p:txBody>
          <a:bodyPr anchor="t" rtlCol="false" tIns="0" lIns="0" bIns="0" rIns="0">
            <a:spAutoFit/>
          </a:bodyPr>
          <a:lstStyle/>
          <a:p>
            <a:pPr algn="l">
              <a:lnSpc>
                <a:spcPts val="3359"/>
              </a:lnSpc>
            </a:pPr>
            <a:r>
              <a:rPr lang="en-US" sz="2400" spc="-48">
                <a:solidFill>
                  <a:srgbClr val="36211B"/>
                </a:solidFill>
                <a:latin typeface="Canva Sans"/>
                <a:ea typeface="Canva Sans"/>
                <a:cs typeface="Canva Sans"/>
                <a:sym typeface="Canva Sans"/>
              </a:rPr>
              <a:t>To successfully implement and integrate a pre-trained MobileNetV2 model to accurately classify and detect a predefined set of common skin issues from user-submitted images.</a:t>
            </a:r>
          </a:p>
        </p:txBody>
      </p:sp>
      <p:sp>
        <p:nvSpPr>
          <p:cNvPr name="TextBox 5" id="5"/>
          <p:cNvSpPr txBox="true"/>
          <p:nvPr/>
        </p:nvSpPr>
        <p:spPr>
          <a:xfrm rot="0">
            <a:off x="6926445" y="3921769"/>
            <a:ext cx="4888943" cy="622935"/>
          </a:xfrm>
          <a:prstGeom prst="rect">
            <a:avLst/>
          </a:prstGeom>
        </p:spPr>
        <p:txBody>
          <a:bodyPr anchor="t" rtlCol="false" tIns="0" lIns="0" bIns="0" rIns="0">
            <a:spAutoFit/>
          </a:bodyPr>
          <a:lstStyle/>
          <a:p>
            <a:pPr algn="l">
              <a:lnSpc>
                <a:spcPts val="5040"/>
              </a:lnSpc>
            </a:pPr>
            <a:r>
              <a:rPr lang="en-US" sz="3600" spc="-144">
                <a:solidFill>
                  <a:srgbClr val="36211B"/>
                </a:solidFill>
                <a:latin typeface="IBM Plex Serif"/>
                <a:ea typeface="IBM Plex Serif"/>
                <a:cs typeface="IBM Plex Serif"/>
                <a:sym typeface="IBM Plex Serif"/>
              </a:rPr>
              <a:t>User-Friendly Interface</a:t>
            </a:r>
          </a:p>
        </p:txBody>
      </p:sp>
      <p:sp>
        <p:nvSpPr>
          <p:cNvPr name="TextBox 6" id="6"/>
          <p:cNvSpPr txBox="true"/>
          <p:nvPr/>
        </p:nvSpPr>
        <p:spPr>
          <a:xfrm rot="0">
            <a:off x="6926445" y="5621029"/>
            <a:ext cx="4477275" cy="2491740"/>
          </a:xfrm>
          <a:prstGeom prst="rect">
            <a:avLst/>
          </a:prstGeom>
        </p:spPr>
        <p:txBody>
          <a:bodyPr anchor="t" rtlCol="false" tIns="0" lIns="0" bIns="0" rIns="0">
            <a:spAutoFit/>
          </a:bodyPr>
          <a:lstStyle/>
          <a:p>
            <a:pPr algn="l">
              <a:lnSpc>
                <a:spcPts val="3359"/>
              </a:lnSpc>
            </a:pPr>
            <a:r>
              <a:rPr lang="en-US" sz="2400" spc="-48">
                <a:solidFill>
                  <a:srgbClr val="36211B"/>
                </a:solidFill>
                <a:latin typeface="Canva Sans"/>
                <a:ea typeface="Canva Sans"/>
                <a:cs typeface="Canva Sans"/>
                <a:sym typeface="Canva Sans"/>
              </a:rPr>
              <a:t>To design and develop a clean, intuitive, and fully responsive frontend using React.js that allows for easy image upload and clear presentation of analysis results.</a:t>
            </a:r>
          </a:p>
        </p:txBody>
      </p:sp>
      <p:sp>
        <p:nvSpPr>
          <p:cNvPr name="TextBox 7" id="7"/>
          <p:cNvSpPr txBox="true"/>
          <p:nvPr/>
        </p:nvSpPr>
        <p:spPr>
          <a:xfrm rot="0">
            <a:off x="12782025" y="3921769"/>
            <a:ext cx="4477275" cy="1261110"/>
          </a:xfrm>
          <a:prstGeom prst="rect">
            <a:avLst/>
          </a:prstGeom>
        </p:spPr>
        <p:txBody>
          <a:bodyPr anchor="t" rtlCol="false" tIns="0" lIns="0" bIns="0" rIns="0">
            <a:spAutoFit/>
          </a:bodyPr>
          <a:lstStyle/>
          <a:p>
            <a:pPr algn="l">
              <a:lnSpc>
                <a:spcPts val="5040"/>
              </a:lnSpc>
            </a:pPr>
            <a:r>
              <a:rPr lang="en-US" sz="3600" spc="-144">
                <a:solidFill>
                  <a:srgbClr val="36211B"/>
                </a:solidFill>
                <a:latin typeface="IBM Plex Serif"/>
                <a:ea typeface="IBM Plex Serif"/>
                <a:cs typeface="IBM Plex Serif"/>
                <a:sym typeface="IBM Plex Serif"/>
              </a:rPr>
              <a:t>Robust Backend System</a:t>
            </a:r>
          </a:p>
        </p:txBody>
      </p:sp>
      <p:sp>
        <p:nvSpPr>
          <p:cNvPr name="TextBox 8" id="8"/>
          <p:cNvSpPr txBox="true"/>
          <p:nvPr/>
        </p:nvSpPr>
        <p:spPr>
          <a:xfrm rot="0">
            <a:off x="12782025" y="5621029"/>
            <a:ext cx="4477275" cy="2491740"/>
          </a:xfrm>
          <a:prstGeom prst="rect">
            <a:avLst/>
          </a:prstGeom>
        </p:spPr>
        <p:txBody>
          <a:bodyPr anchor="t" rtlCol="false" tIns="0" lIns="0" bIns="0" rIns="0">
            <a:spAutoFit/>
          </a:bodyPr>
          <a:lstStyle/>
          <a:p>
            <a:pPr algn="l">
              <a:lnSpc>
                <a:spcPts val="3359"/>
              </a:lnSpc>
            </a:pPr>
            <a:r>
              <a:rPr lang="en-US" sz="2400" spc="-48">
                <a:solidFill>
                  <a:srgbClr val="36211B"/>
                </a:solidFill>
                <a:latin typeface="Canva Sans"/>
                <a:ea typeface="Canva Sans"/>
                <a:cs typeface="Canva Sans"/>
                <a:sym typeface="Canva Sans"/>
              </a:rPr>
              <a:t>To build a secure and scalable backend using Node.js and Express.js to handle user data, manage API requests to the AI model, and store information in a MongoDB database.</a:t>
            </a:r>
          </a:p>
        </p:txBody>
      </p:sp>
      <p:sp>
        <p:nvSpPr>
          <p:cNvPr name="TextBox 9" id="9"/>
          <p:cNvSpPr txBox="true"/>
          <p:nvPr/>
        </p:nvSpPr>
        <p:spPr>
          <a:xfrm rot="0">
            <a:off x="1028700" y="3206755"/>
            <a:ext cx="398364" cy="405765"/>
          </a:xfrm>
          <a:prstGeom prst="rect">
            <a:avLst/>
          </a:prstGeom>
        </p:spPr>
        <p:txBody>
          <a:bodyPr anchor="t" rtlCol="false" tIns="0" lIns="0" bIns="0" rIns="0">
            <a:spAutoFit/>
          </a:bodyPr>
          <a:lstStyle/>
          <a:p>
            <a:pPr algn="l">
              <a:lnSpc>
                <a:spcPts val="3359"/>
              </a:lnSpc>
            </a:pPr>
            <a:r>
              <a:rPr lang="en-US" sz="2400" spc="-96">
                <a:solidFill>
                  <a:srgbClr val="36211B"/>
                </a:solidFill>
                <a:latin typeface="IBM Plex Serif"/>
                <a:ea typeface="IBM Plex Serif"/>
                <a:cs typeface="IBM Plex Serif"/>
                <a:sym typeface="IBM Plex Serif"/>
              </a:rPr>
              <a:t>1</a:t>
            </a:r>
          </a:p>
        </p:txBody>
      </p:sp>
      <p:sp>
        <p:nvSpPr>
          <p:cNvPr name="TextBox 10" id="10"/>
          <p:cNvSpPr txBox="true"/>
          <p:nvPr/>
        </p:nvSpPr>
        <p:spPr>
          <a:xfrm rot="0">
            <a:off x="6926445" y="3206755"/>
            <a:ext cx="398364" cy="405765"/>
          </a:xfrm>
          <a:prstGeom prst="rect">
            <a:avLst/>
          </a:prstGeom>
        </p:spPr>
        <p:txBody>
          <a:bodyPr anchor="t" rtlCol="false" tIns="0" lIns="0" bIns="0" rIns="0">
            <a:spAutoFit/>
          </a:bodyPr>
          <a:lstStyle/>
          <a:p>
            <a:pPr algn="l">
              <a:lnSpc>
                <a:spcPts val="3359"/>
              </a:lnSpc>
            </a:pPr>
            <a:r>
              <a:rPr lang="en-US" sz="2400" spc="-96">
                <a:solidFill>
                  <a:srgbClr val="36211B"/>
                </a:solidFill>
                <a:latin typeface="IBM Plex Serif"/>
                <a:ea typeface="IBM Plex Serif"/>
                <a:cs typeface="IBM Plex Serif"/>
                <a:sym typeface="IBM Plex Serif"/>
              </a:rPr>
              <a:t>2</a:t>
            </a:r>
          </a:p>
        </p:txBody>
      </p:sp>
      <p:sp>
        <p:nvSpPr>
          <p:cNvPr name="TextBox 11" id="11"/>
          <p:cNvSpPr txBox="true"/>
          <p:nvPr/>
        </p:nvSpPr>
        <p:spPr>
          <a:xfrm rot="0">
            <a:off x="12782025" y="3206755"/>
            <a:ext cx="398364" cy="405765"/>
          </a:xfrm>
          <a:prstGeom prst="rect">
            <a:avLst/>
          </a:prstGeom>
        </p:spPr>
        <p:txBody>
          <a:bodyPr anchor="t" rtlCol="false" tIns="0" lIns="0" bIns="0" rIns="0">
            <a:spAutoFit/>
          </a:bodyPr>
          <a:lstStyle/>
          <a:p>
            <a:pPr algn="l">
              <a:lnSpc>
                <a:spcPts val="3359"/>
              </a:lnSpc>
            </a:pPr>
            <a:r>
              <a:rPr lang="en-US" sz="2400" spc="-96">
                <a:solidFill>
                  <a:srgbClr val="36211B"/>
                </a:solidFill>
                <a:latin typeface="IBM Plex Serif"/>
                <a:ea typeface="IBM Plex Serif"/>
                <a:cs typeface="IBM Plex Serif"/>
                <a:sym typeface="IBM Plex Serif"/>
              </a:rPr>
              <a:t>3</a:t>
            </a:r>
          </a:p>
        </p:txBody>
      </p:sp>
      <p:sp>
        <p:nvSpPr>
          <p:cNvPr name="TextBox 12" id="12"/>
          <p:cNvSpPr txBox="true"/>
          <p:nvPr/>
        </p:nvSpPr>
        <p:spPr>
          <a:xfrm rot="0">
            <a:off x="6098679" y="1306835"/>
            <a:ext cx="6090642" cy="1566544"/>
          </a:xfrm>
          <a:prstGeom prst="rect">
            <a:avLst/>
          </a:prstGeom>
        </p:spPr>
        <p:txBody>
          <a:bodyPr anchor="t" rtlCol="false" tIns="0" lIns="0" bIns="0" rIns="0">
            <a:spAutoFit/>
          </a:bodyPr>
          <a:lstStyle/>
          <a:p>
            <a:pPr algn="ctr">
              <a:lnSpc>
                <a:spcPts val="12880"/>
              </a:lnSpc>
            </a:pPr>
            <a:r>
              <a:rPr lang="en-US" sz="9200" b="true">
                <a:solidFill>
                  <a:srgbClr val="36211B"/>
                </a:solidFill>
                <a:latin typeface="Canva Sans Bold"/>
                <a:ea typeface="Canva Sans Bold"/>
                <a:cs typeface="Canva Sans Bold"/>
                <a:sym typeface="Canva Sans Bold"/>
              </a:rPr>
              <a:t>Obj</a:t>
            </a:r>
            <a:r>
              <a:rPr lang="en-US" b="true" sz="9200">
                <a:solidFill>
                  <a:srgbClr val="36211B"/>
                </a:solidFill>
                <a:latin typeface="Canva Sans Bold"/>
                <a:ea typeface="Canva Sans Bold"/>
                <a:cs typeface="Canva Sans Bold"/>
                <a:sym typeface="Canva Sans Bold"/>
              </a:rPr>
              <a:t>ectives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12806512" y="0"/>
            <a:ext cx="5481488" cy="10287000"/>
          </a:xfrm>
          <a:custGeom>
            <a:avLst/>
            <a:gdLst/>
            <a:ahLst/>
            <a:cxnLst/>
            <a:rect r="r" b="b" t="t" l="l"/>
            <a:pathLst>
              <a:path h="10287000" w="5481488">
                <a:moveTo>
                  <a:pt x="0" y="0"/>
                </a:moveTo>
                <a:lnTo>
                  <a:pt x="5481488" y="0"/>
                </a:lnTo>
                <a:lnTo>
                  <a:pt x="5481488" y="10287000"/>
                </a:lnTo>
                <a:lnTo>
                  <a:pt x="0" y="10287000"/>
                </a:lnTo>
                <a:lnTo>
                  <a:pt x="0" y="0"/>
                </a:lnTo>
                <a:close/>
              </a:path>
            </a:pathLst>
          </a:custGeom>
          <a:blipFill>
            <a:blip r:embed="rId2"/>
            <a:stretch>
              <a:fillRect l="-25072" t="0" r="-39" b="0"/>
            </a:stretch>
          </a:blipFill>
        </p:spPr>
      </p:sp>
      <p:sp>
        <p:nvSpPr>
          <p:cNvPr name="Freeform 3" id="3"/>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3"/>
            <a:stretch>
              <a:fillRect l="0" t="-1531929" r="0" b="-1102351"/>
            </a:stretch>
          </a:blipFill>
        </p:spPr>
      </p:sp>
      <p:sp>
        <p:nvSpPr>
          <p:cNvPr name="TextBox 4" id="4"/>
          <p:cNvSpPr txBox="true"/>
          <p:nvPr/>
        </p:nvSpPr>
        <p:spPr>
          <a:xfrm rot="0">
            <a:off x="1028700" y="2473642"/>
            <a:ext cx="11566948" cy="7520940"/>
          </a:xfrm>
          <a:prstGeom prst="rect">
            <a:avLst/>
          </a:prstGeom>
        </p:spPr>
        <p:txBody>
          <a:bodyPr anchor="t" rtlCol="false" tIns="0" lIns="0" bIns="0" rIns="0">
            <a:spAutoFit/>
          </a:bodyPr>
          <a:lstStyle/>
          <a:p>
            <a:pPr algn="l">
              <a:lnSpc>
                <a:spcPts val="3359"/>
              </a:lnSpc>
            </a:pPr>
            <a:r>
              <a:rPr lang="en-US" b="true" sz="2400" spc="-48">
                <a:solidFill>
                  <a:srgbClr val="36211B"/>
                </a:solidFill>
                <a:latin typeface="Canva Sans Bold"/>
                <a:ea typeface="Canva Sans Bold"/>
                <a:cs typeface="Canva Sans Bold"/>
                <a:sym typeface="Canva Sans Bold"/>
              </a:rPr>
              <a:t>Deep Learning for Dermatology (Esteva et al., 2017, Nature)</a:t>
            </a:r>
          </a:p>
          <a:p>
            <a:pPr algn="l">
              <a:lnSpc>
                <a:spcPts val="3359"/>
              </a:lnSpc>
            </a:pPr>
            <a:r>
              <a:rPr lang="en-US" sz="2400" spc="-48">
                <a:solidFill>
                  <a:srgbClr val="36211B"/>
                </a:solidFill>
                <a:latin typeface="Canva Sans"/>
                <a:ea typeface="Canva Sans"/>
                <a:cs typeface="Canva Sans"/>
                <a:sym typeface="Canva Sans"/>
              </a:rPr>
              <a:t>Researc</a:t>
            </a:r>
            <a:r>
              <a:rPr lang="en-US" sz="2400" spc="-48">
                <a:solidFill>
                  <a:srgbClr val="36211B"/>
                </a:solidFill>
                <a:latin typeface="Canva Sans"/>
                <a:ea typeface="Canva Sans"/>
                <a:cs typeface="Canva Sans"/>
                <a:sym typeface="Canva Sans"/>
              </a:rPr>
              <a:t>h demonstrated that a deep convolutional neural network can classify skin cancer with a level of competence comparable to dermatologists. This validates the use of CNNs for skin condition analysis, forming the basis of our project.</a:t>
            </a:r>
          </a:p>
          <a:p>
            <a:pPr algn="l">
              <a:lnSpc>
                <a:spcPts val="3359"/>
              </a:lnSpc>
            </a:pPr>
          </a:p>
          <a:p>
            <a:pPr algn="l">
              <a:lnSpc>
                <a:spcPts val="3359"/>
              </a:lnSpc>
            </a:pPr>
            <a:r>
              <a:rPr lang="en-US" b="true" sz="2400" spc="-48">
                <a:solidFill>
                  <a:srgbClr val="36211B"/>
                </a:solidFill>
                <a:latin typeface="Canva Sans Bold"/>
                <a:ea typeface="Canva Sans Bold"/>
                <a:cs typeface="Canva Sans Bold"/>
                <a:sym typeface="Canva Sans Bold"/>
              </a:rPr>
              <a:t>MobileNetV2: Inverted Residuals and Linear Bottlenecks (Sandler et al., 2018)</a:t>
            </a:r>
          </a:p>
          <a:p>
            <a:pPr algn="l">
              <a:lnSpc>
                <a:spcPts val="3359"/>
              </a:lnSpc>
            </a:pPr>
            <a:r>
              <a:rPr lang="en-US" sz="2400" spc="-48">
                <a:solidFill>
                  <a:srgbClr val="36211B"/>
                </a:solidFill>
                <a:latin typeface="Canva Sans"/>
                <a:ea typeface="Canva Sans"/>
                <a:cs typeface="Canva Sans"/>
                <a:sym typeface="Canva Sans"/>
              </a:rPr>
              <a:t>This paper introduces MobileNetV2, an architecture optimized for efficiency on mobile and resource-constrained devices. Its lightweight and fast nature makes it the ideal choice for a real-time web application like Bloom Skin, ensuring quick analysis times.</a:t>
            </a:r>
          </a:p>
          <a:p>
            <a:pPr algn="l">
              <a:lnSpc>
                <a:spcPts val="3359"/>
              </a:lnSpc>
            </a:pPr>
          </a:p>
          <a:p>
            <a:pPr algn="l">
              <a:lnSpc>
                <a:spcPts val="3359"/>
              </a:lnSpc>
            </a:pPr>
            <a:r>
              <a:rPr lang="en-US" b="true" sz="2400" spc="-48">
                <a:solidFill>
                  <a:srgbClr val="36211B"/>
                </a:solidFill>
                <a:latin typeface="Canva Sans Bold"/>
                <a:ea typeface="Canva Sans Bold"/>
                <a:cs typeface="Canva Sans Bold"/>
                <a:sym typeface="Canva Sans Bold"/>
              </a:rPr>
              <a:t>MERN Stack for Modern Web Apps (Venkatesan, 2019)</a:t>
            </a:r>
          </a:p>
          <a:p>
            <a:pPr algn="l">
              <a:lnSpc>
                <a:spcPts val="3359"/>
              </a:lnSpc>
            </a:pPr>
            <a:r>
              <a:rPr lang="en-US" sz="2400" spc="-48">
                <a:solidFill>
                  <a:srgbClr val="36211B"/>
                </a:solidFill>
                <a:latin typeface="Canva Sans"/>
                <a:ea typeface="Canva Sans"/>
                <a:cs typeface="Canva Sans"/>
                <a:sym typeface="Canva Sans"/>
              </a:rPr>
              <a:t>The MERN stack is widely adopted for its use of a single language (JavaScript) across the entire application, simplifying development and improving performance with its non-blocking, event-driven architecture. This supports our goal of creating a fast and maintainable system.</a:t>
            </a:r>
          </a:p>
          <a:p>
            <a:pPr algn="l">
              <a:lnSpc>
                <a:spcPts val="3359"/>
              </a:lnSpc>
            </a:pPr>
          </a:p>
        </p:txBody>
      </p:sp>
      <p:sp>
        <p:nvSpPr>
          <p:cNvPr name="TextBox 5" id="5"/>
          <p:cNvSpPr txBox="true"/>
          <p:nvPr/>
        </p:nvSpPr>
        <p:spPr>
          <a:xfrm rot="0">
            <a:off x="15160864" y="8862060"/>
            <a:ext cx="2098436" cy="396240"/>
          </a:xfrm>
          <a:prstGeom prst="rect">
            <a:avLst/>
          </a:prstGeom>
        </p:spPr>
        <p:txBody>
          <a:bodyPr anchor="t" rtlCol="false" tIns="0" lIns="0" bIns="0" rIns="0">
            <a:spAutoFit/>
          </a:bodyPr>
          <a:lstStyle/>
          <a:p>
            <a:pPr algn="r">
              <a:lnSpc>
                <a:spcPts val="3359"/>
              </a:lnSpc>
            </a:pPr>
            <a:r>
              <a:rPr lang="en-US" sz="2400" spc="-48">
                <a:solidFill>
                  <a:srgbClr val="E8E6E3"/>
                </a:solidFill>
                <a:latin typeface="Canva Sans"/>
                <a:ea typeface="Canva Sans"/>
                <a:cs typeface="Canva Sans"/>
                <a:sym typeface="Canva Sans"/>
              </a:rPr>
              <a:t>4</a:t>
            </a:r>
          </a:p>
        </p:txBody>
      </p:sp>
      <p:sp>
        <p:nvSpPr>
          <p:cNvPr name="TextBox 6" id="6"/>
          <p:cNvSpPr txBox="true"/>
          <p:nvPr/>
        </p:nvSpPr>
        <p:spPr>
          <a:xfrm rot="0">
            <a:off x="790730" y="573723"/>
            <a:ext cx="9994463" cy="1543048"/>
          </a:xfrm>
          <a:prstGeom prst="rect">
            <a:avLst/>
          </a:prstGeom>
        </p:spPr>
        <p:txBody>
          <a:bodyPr anchor="t" rtlCol="false" tIns="0" lIns="0" bIns="0" rIns="0">
            <a:spAutoFit/>
          </a:bodyPr>
          <a:lstStyle/>
          <a:p>
            <a:pPr algn="ctr">
              <a:lnSpc>
                <a:spcPts val="12600"/>
              </a:lnSpc>
            </a:pPr>
            <a:r>
              <a:rPr lang="en-US" b="true" sz="9000">
                <a:solidFill>
                  <a:srgbClr val="000000"/>
                </a:solidFill>
                <a:latin typeface="IBM Plex Serif Bold"/>
                <a:ea typeface="IBM Plex Serif Bold"/>
                <a:cs typeface="IBM Plex Serif Bold"/>
                <a:sym typeface="IBM Plex Serif Bold"/>
              </a:rPr>
              <a:t>Liter</a:t>
            </a:r>
            <a:r>
              <a:rPr lang="en-US" b="true" sz="9000">
                <a:solidFill>
                  <a:srgbClr val="000000"/>
                </a:solidFill>
                <a:latin typeface="IBM Plex Serif Bold"/>
                <a:ea typeface="IBM Plex Serif Bold"/>
                <a:cs typeface="IBM Plex Serif Bold"/>
                <a:sym typeface="IBM Plex Serif Bold"/>
              </a:rPr>
              <a:t>ature Survey</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385479" y="847725"/>
            <a:ext cx="11024058" cy="1609091"/>
          </a:xfrm>
          <a:prstGeom prst="rect">
            <a:avLst/>
          </a:prstGeom>
        </p:spPr>
        <p:txBody>
          <a:bodyPr anchor="t" rtlCol="false" tIns="0" lIns="0" bIns="0" rIns="0">
            <a:spAutoFit/>
          </a:bodyPr>
          <a:lstStyle/>
          <a:p>
            <a:pPr algn="l">
              <a:lnSpc>
                <a:spcPts val="13159"/>
              </a:lnSpc>
            </a:pPr>
            <a:r>
              <a:rPr lang="en-US" sz="9399" spc="-375">
                <a:solidFill>
                  <a:srgbClr val="36211B"/>
                </a:solidFill>
                <a:latin typeface="IBM Plex Serif"/>
                <a:ea typeface="IBM Plex Serif"/>
                <a:cs typeface="IBM Plex Serif"/>
                <a:sym typeface="IBM Plex Serif"/>
              </a:rPr>
              <a:t>Technology Stack</a:t>
            </a:r>
          </a:p>
        </p:txBody>
      </p:sp>
      <p:sp>
        <p:nvSpPr>
          <p:cNvPr name="TextBox 4" id="4"/>
          <p:cNvSpPr txBox="true"/>
          <p:nvPr/>
        </p:nvSpPr>
        <p:spPr>
          <a:xfrm rot="0">
            <a:off x="2687555" y="2866390"/>
            <a:ext cx="13848874" cy="6391910"/>
          </a:xfrm>
          <a:prstGeom prst="rect">
            <a:avLst/>
          </a:prstGeom>
        </p:spPr>
        <p:txBody>
          <a:bodyPr anchor="t" rtlCol="false" tIns="0" lIns="0" bIns="0" rIns="0">
            <a:spAutoFit/>
          </a:bodyPr>
          <a:lstStyle/>
          <a:p>
            <a:pPr algn="l" marL="561339" indent="-280669" lvl="1">
              <a:lnSpc>
                <a:spcPts val="3639"/>
              </a:lnSpc>
              <a:buFont typeface="Arial"/>
              <a:buChar char="•"/>
            </a:pPr>
            <a:r>
              <a:rPr lang="en-US" b="true" sz="2599">
                <a:solidFill>
                  <a:srgbClr val="36211B"/>
                </a:solidFill>
                <a:latin typeface="Canva Sans Bold"/>
                <a:ea typeface="Canva Sans Bold"/>
                <a:cs typeface="Canva Sans Bold"/>
                <a:sym typeface="Canva Sans Bold"/>
              </a:rPr>
              <a:t>Fronten</a:t>
            </a:r>
            <a:r>
              <a:rPr lang="en-US" b="true" sz="2599">
                <a:solidFill>
                  <a:srgbClr val="36211B"/>
                </a:solidFill>
                <a:latin typeface="Canva Sans Bold"/>
                <a:ea typeface="Canva Sans Bold"/>
                <a:cs typeface="Canva Sans Bold"/>
                <a:sym typeface="Canva Sans Bold"/>
              </a:rPr>
              <a:t>d:</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React.js: For building a dynamic and component-based user interface.</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HTML5 &amp; CSS3: For structure and modern styling.</a:t>
            </a:r>
          </a:p>
          <a:p>
            <a:pPr algn="l" marL="561339" indent="-280669" lvl="1">
              <a:lnSpc>
                <a:spcPts val="3639"/>
              </a:lnSpc>
              <a:buFont typeface="Arial"/>
              <a:buChar char="•"/>
            </a:pPr>
            <a:r>
              <a:rPr lang="en-US" b="true" sz="2599">
                <a:solidFill>
                  <a:srgbClr val="36211B"/>
                </a:solidFill>
                <a:latin typeface="Canva Sans Bold"/>
                <a:ea typeface="Canva Sans Bold"/>
                <a:cs typeface="Canva Sans Bold"/>
                <a:sym typeface="Canva Sans Bold"/>
              </a:rPr>
              <a:t>Backend:</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Node.js: For the JavaScript runtime environment.</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Express.js: As the web application framework for creating robust APIs.</a:t>
            </a:r>
          </a:p>
          <a:p>
            <a:pPr algn="l" marL="561339" indent="-280669" lvl="1">
              <a:lnSpc>
                <a:spcPts val="3639"/>
              </a:lnSpc>
              <a:buFont typeface="Arial"/>
              <a:buChar char="•"/>
            </a:pPr>
            <a:r>
              <a:rPr lang="en-US" b="true" sz="2599">
                <a:solidFill>
                  <a:srgbClr val="36211B"/>
                </a:solidFill>
                <a:latin typeface="Canva Sans Bold"/>
                <a:ea typeface="Canva Sans Bold"/>
                <a:cs typeface="Canva Sans Bold"/>
                <a:sym typeface="Canva Sans Bold"/>
              </a:rPr>
              <a:t>Database:</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MongoDB: A NoSQL database for flexible and scalable data storage.</a:t>
            </a:r>
          </a:p>
          <a:p>
            <a:pPr algn="l" marL="561339" indent="-280669" lvl="1">
              <a:lnSpc>
                <a:spcPts val="3639"/>
              </a:lnSpc>
              <a:buFont typeface="Arial"/>
              <a:buChar char="•"/>
            </a:pPr>
            <a:r>
              <a:rPr lang="en-US" b="true" sz="2599">
                <a:solidFill>
                  <a:srgbClr val="36211B"/>
                </a:solidFill>
                <a:latin typeface="Canva Sans Bold"/>
                <a:ea typeface="Canva Sans Bold"/>
                <a:cs typeface="Canva Sans Bold"/>
                <a:sym typeface="Canva Sans Bold"/>
              </a:rPr>
              <a:t>AI / Machine Learning:</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Python: The primary language for ML.</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TensorFlow &amp; Keras: For building and running the deep learning model.</a:t>
            </a:r>
          </a:p>
          <a:p>
            <a:pPr algn="l" marL="1122678" indent="-374226" lvl="2">
              <a:lnSpc>
                <a:spcPts val="3639"/>
              </a:lnSpc>
              <a:buFont typeface="Arial"/>
              <a:buChar char="⚬"/>
            </a:pPr>
            <a:r>
              <a:rPr lang="en-US" b="true" sz="2599">
                <a:solidFill>
                  <a:srgbClr val="36211B"/>
                </a:solidFill>
                <a:latin typeface="Canva Sans Bold"/>
                <a:ea typeface="Canva Sans Bold"/>
                <a:cs typeface="Canva Sans Bold"/>
                <a:sym typeface="Canva Sans Bold"/>
              </a:rPr>
              <a:t>MobileNetV2: The pre-trained model architecture used for image classification.</a:t>
            </a:r>
          </a:p>
          <a:p>
            <a:pPr algn="l">
              <a:lnSpc>
                <a:spcPts val="3639"/>
              </a:lnSpc>
            </a:pPr>
          </a:p>
          <a:p>
            <a:pPr algn="l">
              <a:lnSpc>
                <a:spcPts val="3639"/>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2911570"/>
            <a:ext cx="7415452" cy="5848350"/>
          </a:xfrm>
          <a:prstGeom prst="rect">
            <a:avLst/>
          </a:prstGeom>
        </p:spPr>
        <p:txBody>
          <a:bodyPr anchor="t" rtlCol="false" tIns="0" lIns="0" bIns="0" rIns="0">
            <a:spAutoFit/>
          </a:bodyPr>
          <a:lstStyle/>
          <a:p>
            <a:pPr algn="l">
              <a:lnSpc>
                <a:spcPts val="4200"/>
              </a:lnSpc>
            </a:pPr>
            <a:r>
              <a:rPr lang="en-US" sz="3000" spc="-120">
                <a:solidFill>
                  <a:srgbClr val="36211B"/>
                </a:solidFill>
                <a:latin typeface="IBM Plex Serif"/>
                <a:ea typeface="IBM Plex Serif"/>
                <a:cs typeface="IBM Plex Serif"/>
                <a:sym typeface="IBM Plex Serif"/>
              </a:rPr>
              <a:t>The Backend API then does two things:</a:t>
            </a:r>
          </a:p>
          <a:p>
            <a:pPr algn="l" marL="647703" indent="-323852" lvl="1">
              <a:lnSpc>
                <a:spcPts val="4200"/>
              </a:lnSpc>
              <a:buFont typeface="Arial"/>
              <a:buChar char="•"/>
            </a:pPr>
            <a:r>
              <a:rPr lang="en-US" sz="3000" spc="-120">
                <a:solidFill>
                  <a:srgbClr val="36211B"/>
                </a:solidFill>
                <a:latin typeface="IBM Plex Serif"/>
                <a:ea typeface="IBM Plex Serif"/>
                <a:cs typeface="IBM Plex Serif"/>
                <a:sym typeface="IBM Plex Serif"/>
              </a:rPr>
              <a:t>Interacts with [MongoDB Database] (for user data, history).</a:t>
            </a:r>
          </a:p>
          <a:p>
            <a:pPr algn="l" marL="647703" indent="-323852" lvl="1">
              <a:lnSpc>
                <a:spcPts val="4200"/>
              </a:lnSpc>
              <a:buFont typeface="Arial"/>
              <a:buChar char="•"/>
            </a:pPr>
            <a:r>
              <a:rPr lang="en-US" sz="3000" spc="-120">
                <a:solidFill>
                  <a:srgbClr val="36211B"/>
                </a:solidFill>
                <a:latin typeface="IBM Plex Serif"/>
                <a:ea typeface="IBM Plex Serif"/>
                <a:cs typeface="IBM Plex Serif"/>
                <a:sym typeface="IBM Plex Serif"/>
              </a:rPr>
              <a:t>Sends image data to [Python AI Service (Flask/FastAPI)] -- (Runs analysis using) --&gt; [MobileNetV2 Model]</a:t>
            </a:r>
          </a:p>
          <a:p>
            <a:pPr algn="l" marL="647703" indent="-323852" lvl="1">
              <a:lnSpc>
                <a:spcPts val="4200"/>
              </a:lnSpc>
              <a:buFont typeface="Arial"/>
              <a:buChar char="•"/>
            </a:pPr>
            <a:r>
              <a:rPr lang="en-US" sz="3000" spc="-120">
                <a:solidFill>
                  <a:srgbClr val="36211B"/>
                </a:solidFill>
                <a:latin typeface="IBM Plex Serif"/>
                <a:ea typeface="IBM Plex Serif"/>
                <a:cs typeface="IBM Plex Serif"/>
                <a:sym typeface="IBM Plex Serif"/>
              </a:rPr>
              <a:t>The Python service returns the analysis result to the Backend, which then sends the final response back to the React Frontend to be displayed to the user.</a:t>
            </a:r>
          </a:p>
          <a:p>
            <a:pPr algn="l">
              <a:lnSpc>
                <a:spcPts val="4200"/>
              </a:lnSpc>
            </a:pPr>
          </a:p>
        </p:txBody>
      </p:sp>
      <p:sp>
        <p:nvSpPr>
          <p:cNvPr name="TextBox 4" id="4"/>
          <p:cNvSpPr txBox="true"/>
          <p:nvPr/>
        </p:nvSpPr>
        <p:spPr>
          <a:xfrm rot="0">
            <a:off x="15160864" y="8862060"/>
            <a:ext cx="2098436" cy="396240"/>
          </a:xfrm>
          <a:prstGeom prst="rect">
            <a:avLst/>
          </a:prstGeom>
        </p:spPr>
        <p:txBody>
          <a:bodyPr anchor="t" rtlCol="false" tIns="0" lIns="0" bIns="0" rIns="0">
            <a:spAutoFit/>
          </a:bodyPr>
          <a:lstStyle/>
          <a:p>
            <a:pPr algn="r">
              <a:lnSpc>
                <a:spcPts val="3359"/>
              </a:lnSpc>
            </a:pPr>
            <a:r>
              <a:rPr lang="en-US" sz="2400" spc="-48">
                <a:solidFill>
                  <a:srgbClr val="E8E6E3"/>
                </a:solidFill>
                <a:latin typeface="Canva Sans"/>
                <a:ea typeface="Canva Sans"/>
                <a:cs typeface="Canva Sans"/>
                <a:sym typeface="Canva Sans"/>
              </a:rPr>
              <a:t>4</a:t>
            </a:r>
          </a:p>
        </p:txBody>
      </p:sp>
      <p:sp>
        <p:nvSpPr>
          <p:cNvPr name="TextBox 5" id="5"/>
          <p:cNvSpPr txBox="true"/>
          <p:nvPr/>
        </p:nvSpPr>
        <p:spPr>
          <a:xfrm rot="0">
            <a:off x="451128" y="679270"/>
            <a:ext cx="10983159" cy="1543048"/>
          </a:xfrm>
          <a:prstGeom prst="rect">
            <a:avLst/>
          </a:prstGeom>
        </p:spPr>
        <p:txBody>
          <a:bodyPr anchor="t" rtlCol="false" tIns="0" lIns="0" bIns="0" rIns="0">
            <a:spAutoFit/>
          </a:bodyPr>
          <a:lstStyle/>
          <a:p>
            <a:pPr algn="ctr">
              <a:lnSpc>
                <a:spcPts val="12600"/>
              </a:lnSpc>
            </a:pPr>
            <a:r>
              <a:rPr lang="en-US" sz="9000">
                <a:solidFill>
                  <a:srgbClr val="000000"/>
                </a:solidFill>
                <a:latin typeface="IBM Plex Serif"/>
                <a:ea typeface="IBM Plex Serif"/>
                <a:cs typeface="IBM Plex Serif"/>
                <a:sym typeface="IBM Plex Serif"/>
              </a:rPr>
              <a:t>System</a:t>
            </a:r>
            <a:r>
              <a:rPr lang="en-US" sz="9000">
                <a:solidFill>
                  <a:srgbClr val="000000"/>
                </a:solidFill>
                <a:latin typeface="IBM Plex Serif"/>
                <a:ea typeface="IBM Plex Serif"/>
                <a:cs typeface="IBM Plex Serif"/>
                <a:sym typeface="IBM Plex Serif"/>
              </a:rPr>
              <a:t> Architecture</a:t>
            </a:r>
          </a:p>
        </p:txBody>
      </p:sp>
      <p:grpSp>
        <p:nvGrpSpPr>
          <p:cNvPr name="Group 6" id="6"/>
          <p:cNvGrpSpPr/>
          <p:nvPr/>
        </p:nvGrpSpPr>
        <p:grpSpPr>
          <a:xfrm rot="0">
            <a:off x="8825103" y="2968720"/>
            <a:ext cx="9005377" cy="5375391"/>
            <a:chOff x="0" y="0"/>
            <a:chExt cx="1361681" cy="812800"/>
          </a:xfrm>
        </p:grpSpPr>
        <p:sp>
          <p:nvSpPr>
            <p:cNvPr name="Freeform 7" id="7"/>
            <p:cNvSpPr/>
            <p:nvPr/>
          </p:nvSpPr>
          <p:spPr>
            <a:xfrm flipH="false" flipV="false" rot="0">
              <a:off x="0" y="0"/>
              <a:ext cx="1361681" cy="812800"/>
            </a:xfrm>
            <a:custGeom>
              <a:avLst/>
              <a:gdLst/>
              <a:ahLst/>
              <a:cxnLst/>
              <a:rect r="r" b="b" t="t" l="l"/>
              <a:pathLst>
                <a:path h="812800" w="1361681">
                  <a:moveTo>
                    <a:pt x="0" y="0"/>
                  </a:moveTo>
                  <a:lnTo>
                    <a:pt x="1361681" y="0"/>
                  </a:lnTo>
                  <a:lnTo>
                    <a:pt x="1361681" y="812800"/>
                  </a:lnTo>
                  <a:lnTo>
                    <a:pt x="0" y="812800"/>
                  </a:lnTo>
                  <a:close/>
                </a:path>
              </a:pathLst>
            </a:custGeom>
            <a:blipFill>
              <a:blip r:embed="rId3"/>
              <a:stretch>
                <a:fillRect l="0" t="-5808" r="0" b="-5808"/>
              </a:stretch>
            </a:blipFill>
          </p:spPr>
        </p:sp>
      </p:grpSp>
    </p:spTree>
  </p:cSld>
  <p:clrMapOvr>
    <a:masterClrMapping/>
  </p:clrMapOvr>
</p:sld>
</file>

<file path=ppt/slides/slide8.xml><?xml version="1.0" encoding="utf-8"?>
<p:sld xmlns:p="http://schemas.openxmlformats.org/presentationml/2006/main" xmlns:a="http://schemas.openxmlformats.org/drawingml/2006/main">
  <p:cSld>
    <p:bg>
      <p:bgPr>
        <a:solidFill>
          <a:srgbClr val="E8E6E3"/>
        </a:solidFill>
      </p:bgPr>
    </p:bg>
    <p:spTree>
      <p:nvGrpSpPr>
        <p:cNvPr id="1" name=""/>
        <p:cNvGrpSpPr/>
        <p:nvPr/>
      </p:nvGrpSpPr>
      <p:grpSpPr>
        <a:xfrm>
          <a:off x="0" y="0"/>
          <a:ext cx="0" cy="0"/>
          <a:chOff x="0" y="0"/>
          <a:chExt cx="0" cy="0"/>
        </a:xfrm>
      </p:grpSpPr>
      <p:grpSp>
        <p:nvGrpSpPr>
          <p:cNvPr name="Group 2" id="2"/>
          <p:cNvGrpSpPr/>
          <p:nvPr/>
        </p:nvGrpSpPr>
        <p:grpSpPr>
          <a:xfrm rot="0">
            <a:off x="1647825" y="2057400"/>
            <a:ext cx="5201573" cy="5960980"/>
            <a:chOff x="0" y="0"/>
            <a:chExt cx="6935430" cy="7947974"/>
          </a:xfrm>
        </p:grpSpPr>
        <p:sp>
          <p:nvSpPr>
            <p:cNvPr name="TextBox 3" id="3"/>
            <p:cNvSpPr txBox="true"/>
            <p:nvPr/>
          </p:nvSpPr>
          <p:spPr>
            <a:xfrm rot="0">
              <a:off x="0" y="0"/>
              <a:ext cx="6935430" cy="1295400"/>
            </a:xfrm>
            <a:prstGeom prst="rect">
              <a:avLst/>
            </a:prstGeom>
          </p:spPr>
          <p:txBody>
            <a:bodyPr anchor="t" rtlCol="false" tIns="0" lIns="0" bIns="0" rIns="0">
              <a:spAutoFit/>
            </a:bodyPr>
            <a:lstStyle/>
            <a:p>
              <a:pPr algn="l" marL="0" indent="0" lvl="0">
                <a:lnSpc>
                  <a:spcPts val="7650"/>
                </a:lnSpc>
              </a:pPr>
              <a:r>
                <a:rPr lang="en-US" sz="6375">
                  <a:solidFill>
                    <a:srgbClr val="000000"/>
                  </a:solidFill>
                  <a:latin typeface="IBM Plex Serif"/>
                  <a:ea typeface="IBM Plex Serif"/>
                  <a:cs typeface="IBM Plex Serif"/>
                  <a:sym typeface="IBM Plex Serif"/>
                </a:rPr>
                <a:t>Methodology</a:t>
              </a:r>
            </a:p>
          </p:txBody>
        </p:sp>
        <p:sp>
          <p:nvSpPr>
            <p:cNvPr name="TextBox 4" id="4"/>
            <p:cNvSpPr txBox="true"/>
            <p:nvPr/>
          </p:nvSpPr>
          <p:spPr>
            <a:xfrm rot="0">
              <a:off x="0" y="1839274"/>
              <a:ext cx="6935430" cy="6108700"/>
            </a:xfrm>
            <a:prstGeom prst="rect">
              <a:avLst/>
            </a:prstGeom>
          </p:spPr>
          <p:txBody>
            <a:bodyPr anchor="t" rtlCol="false" tIns="0" lIns="0" bIns="0" rIns="0">
              <a:spAutoFit/>
            </a:bodyPr>
            <a:lstStyle/>
            <a:p>
              <a:pPr algn="just" marL="0" indent="0" lvl="0">
                <a:lnSpc>
                  <a:spcPts val="2836"/>
                </a:lnSpc>
              </a:pPr>
              <a:r>
                <a:rPr lang="en-US" sz="2363" spc="-94">
                  <a:solidFill>
                    <a:srgbClr val="36211B"/>
                  </a:solidFill>
                  <a:latin typeface="IBM Plex Serif"/>
                  <a:ea typeface="IBM Plex Serif"/>
                  <a:cs typeface="IBM Plex Serif"/>
                  <a:sym typeface="IBM Plex Serif"/>
                </a:rPr>
                <a:t>We followed an agile-inspired methodology, breaking the project into manageable phases. The process began with detailed requirement analysis and system design. Development was split into backend API creation, AI model wrapping, and frontend component construction. This iterative approach allowed for continuous integration and testing, ensuring each part worked correctly before being combined. Finally, the application was deployed for review and feedback.</a:t>
              </a:r>
            </a:p>
          </p:txBody>
        </p:sp>
      </p:grpSp>
      <p:grpSp>
        <p:nvGrpSpPr>
          <p:cNvPr name="Group 5" id="5"/>
          <p:cNvGrpSpPr/>
          <p:nvPr/>
        </p:nvGrpSpPr>
        <p:grpSpPr>
          <a:xfrm rot="0">
            <a:off x="9343102" y="2057400"/>
            <a:ext cx="7297073" cy="533400"/>
            <a:chOff x="0" y="0"/>
            <a:chExt cx="9729430" cy="711200"/>
          </a:xfrm>
        </p:grpSpPr>
        <p:sp>
          <p:nvSpPr>
            <p:cNvPr name="TextBox 6" id="6"/>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Requirement Analysis</a:t>
              </a:r>
            </a:p>
          </p:txBody>
        </p:sp>
        <p:sp>
          <p:nvSpPr>
            <p:cNvPr name="TextBox 7" id="7"/>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01</a:t>
              </a:r>
            </a:p>
          </p:txBody>
        </p:sp>
      </p:grpSp>
      <p:grpSp>
        <p:nvGrpSpPr>
          <p:cNvPr name="Group 8" id="8"/>
          <p:cNvGrpSpPr/>
          <p:nvPr/>
        </p:nvGrpSpPr>
        <p:grpSpPr>
          <a:xfrm rot="0">
            <a:off x="9343102" y="3185160"/>
            <a:ext cx="7297073" cy="533400"/>
            <a:chOff x="0" y="0"/>
            <a:chExt cx="9729430" cy="711200"/>
          </a:xfrm>
        </p:grpSpPr>
        <p:sp>
          <p:nvSpPr>
            <p:cNvPr name="TextBox 9" id="9"/>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System Design &amp; Architecture</a:t>
              </a:r>
            </a:p>
          </p:txBody>
        </p:sp>
        <p:sp>
          <p:nvSpPr>
            <p:cNvPr name="TextBox 10" id="10"/>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02</a:t>
              </a:r>
            </a:p>
          </p:txBody>
        </p:sp>
      </p:grpSp>
      <p:grpSp>
        <p:nvGrpSpPr>
          <p:cNvPr name="Group 11" id="11"/>
          <p:cNvGrpSpPr/>
          <p:nvPr/>
        </p:nvGrpSpPr>
        <p:grpSpPr>
          <a:xfrm rot="0">
            <a:off x="9343102" y="4312920"/>
            <a:ext cx="7297073" cy="533400"/>
            <a:chOff x="0" y="0"/>
            <a:chExt cx="9729430" cy="711200"/>
          </a:xfrm>
        </p:grpSpPr>
        <p:sp>
          <p:nvSpPr>
            <p:cNvPr name="TextBox 12" id="12"/>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Agile Development Sprints</a:t>
              </a:r>
            </a:p>
          </p:txBody>
        </p:sp>
        <p:sp>
          <p:nvSpPr>
            <p:cNvPr name="TextBox 13" id="13"/>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03</a:t>
              </a:r>
            </a:p>
          </p:txBody>
        </p:sp>
      </p:grpSp>
      <p:grpSp>
        <p:nvGrpSpPr>
          <p:cNvPr name="Group 14" id="14"/>
          <p:cNvGrpSpPr/>
          <p:nvPr/>
        </p:nvGrpSpPr>
        <p:grpSpPr>
          <a:xfrm rot="0">
            <a:off x="9343102" y="5440680"/>
            <a:ext cx="7297073" cy="533400"/>
            <a:chOff x="0" y="0"/>
            <a:chExt cx="9729430" cy="711200"/>
          </a:xfrm>
        </p:grpSpPr>
        <p:sp>
          <p:nvSpPr>
            <p:cNvPr name="TextBox 15" id="15"/>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Model Integration</a:t>
              </a:r>
            </a:p>
          </p:txBody>
        </p:sp>
        <p:sp>
          <p:nvSpPr>
            <p:cNvPr name="TextBox 16" id="16"/>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04</a:t>
              </a:r>
            </a:p>
          </p:txBody>
        </p:sp>
      </p:grpSp>
      <p:grpSp>
        <p:nvGrpSpPr>
          <p:cNvPr name="Group 17" id="17"/>
          <p:cNvGrpSpPr/>
          <p:nvPr/>
        </p:nvGrpSpPr>
        <p:grpSpPr>
          <a:xfrm rot="0">
            <a:off x="9343102" y="6568440"/>
            <a:ext cx="7297073" cy="533400"/>
            <a:chOff x="0" y="0"/>
            <a:chExt cx="9729430" cy="711200"/>
          </a:xfrm>
        </p:grpSpPr>
        <p:sp>
          <p:nvSpPr>
            <p:cNvPr name="TextBox 18" id="18"/>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Testing &amp; Debugging</a:t>
              </a:r>
            </a:p>
          </p:txBody>
        </p:sp>
        <p:sp>
          <p:nvSpPr>
            <p:cNvPr name="TextBox 19" id="19"/>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05</a:t>
              </a:r>
            </a:p>
          </p:txBody>
        </p:sp>
      </p:grpSp>
      <p:grpSp>
        <p:nvGrpSpPr>
          <p:cNvPr name="Group 20" id="20"/>
          <p:cNvGrpSpPr/>
          <p:nvPr/>
        </p:nvGrpSpPr>
        <p:grpSpPr>
          <a:xfrm rot="0">
            <a:off x="9343102" y="7696200"/>
            <a:ext cx="7297073" cy="533400"/>
            <a:chOff x="0" y="0"/>
            <a:chExt cx="9729430" cy="711200"/>
          </a:xfrm>
        </p:grpSpPr>
        <p:sp>
          <p:nvSpPr>
            <p:cNvPr name="TextBox 21" id="21"/>
            <p:cNvSpPr txBox="true"/>
            <p:nvPr/>
          </p:nvSpPr>
          <p:spPr>
            <a:xfrm rot="0">
              <a:off x="1397000" y="58208"/>
              <a:ext cx="8332430" cy="601738"/>
            </a:xfrm>
            <a:prstGeom prst="rect">
              <a:avLst/>
            </a:prstGeom>
          </p:spPr>
          <p:txBody>
            <a:bodyPr anchor="t" rtlCol="false" tIns="0" lIns="0" bIns="0" rIns="0">
              <a:spAutoFit/>
            </a:bodyPr>
            <a:lstStyle/>
            <a:p>
              <a:pPr algn="l" marL="0" indent="0" lvl="0">
                <a:lnSpc>
                  <a:spcPts val="3868"/>
                </a:lnSpc>
              </a:pPr>
              <a:r>
                <a:rPr lang="en-US" sz="2763" spc="-110">
                  <a:solidFill>
                    <a:srgbClr val="36211B"/>
                  </a:solidFill>
                  <a:latin typeface="IBM Plex Serif"/>
                  <a:ea typeface="IBM Plex Serif"/>
                  <a:cs typeface="IBM Plex Serif"/>
                  <a:sym typeface="IBM Plex Serif"/>
                </a:rPr>
                <a:t>Deployment &amp; Review</a:t>
              </a:r>
            </a:p>
          </p:txBody>
        </p:sp>
        <p:sp>
          <p:nvSpPr>
            <p:cNvPr name="TextBox 22" id="22"/>
            <p:cNvSpPr txBox="true"/>
            <p:nvPr/>
          </p:nvSpPr>
          <p:spPr>
            <a:xfrm rot="0">
              <a:off x="0" y="-9525"/>
              <a:ext cx="890230" cy="720725"/>
            </a:xfrm>
            <a:prstGeom prst="rect">
              <a:avLst/>
            </a:prstGeom>
          </p:spPr>
          <p:txBody>
            <a:bodyPr anchor="t" rtlCol="false" tIns="0" lIns="0" bIns="0" rIns="0">
              <a:spAutoFit/>
            </a:bodyPr>
            <a:lstStyle/>
            <a:p>
              <a:pPr algn="l">
                <a:lnSpc>
                  <a:spcPts val="4200"/>
                </a:lnSpc>
              </a:pPr>
              <a:r>
                <a:rPr lang="en-US" sz="3500">
                  <a:solidFill>
                    <a:srgbClr val="36211B"/>
                  </a:solidFill>
                  <a:latin typeface="IBM Plex Serif"/>
                  <a:ea typeface="IBM Plex Serif"/>
                  <a:cs typeface="IBM Plex Serif"/>
                  <a:sym typeface="IBM Plex Serif"/>
                </a:rPr>
                <a:t>06</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9910777"/>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Freeform 3" id="3"/>
          <p:cNvSpPr/>
          <p:nvPr/>
        </p:nvSpPr>
        <p:spPr>
          <a:xfrm flipH="false" flipV="false" rot="0">
            <a:off x="5786707" y="1989951"/>
            <a:ext cx="8560410" cy="7477620"/>
          </a:xfrm>
          <a:custGeom>
            <a:avLst/>
            <a:gdLst/>
            <a:ahLst/>
            <a:cxnLst/>
            <a:rect r="r" b="b" t="t" l="l"/>
            <a:pathLst>
              <a:path h="7477620" w="8560410">
                <a:moveTo>
                  <a:pt x="0" y="0"/>
                </a:moveTo>
                <a:lnTo>
                  <a:pt x="8560410" y="0"/>
                </a:lnTo>
                <a:lnTo>
                  <a:pt x="8560410" y="7477620"/>
                </a:lnTo>
                <a:lnTo>
                  <a:pt x="0" y="7477620"/>
                </a:lnTo>
                <a:lnTo>
                  <a:pt x="0" y="0"/>
                </a:lnTo>
                <a:close/>
              </a:path>
            </a:pathLst>
          </a:custGeom>
          <a:blipFill>
            <a:blip r:embed="rId3"/>
            <a:stretch>
              <a:fillRect l="0" t="0" r="0" b="0"/>
            </a:stretch>
          </a:blipFill>
        </p:spPr>
      </p:sp>
      <p:sp>
        <p:nvSpPr>
          <p:cNvPr name="TextBox 4" id="4"/>
          <p:cNvSpPr txBox="true"/>
          <p:nvPr/>
        </p:nvSpPr>
        <p:spPr>
          <a:xfrm rot="0">
            <a:off x="8180902" y="349264"/>
            <a:ext cx="3772019" cy="904537"/>
          </a:xfrm>
          <a:prstGeom prst="rect">
            <a:avLst/>
          </a:prstGeom>
        </p:spPr>
        <p:txBody>
          <a:bodyPr anchor="t" rtlCol="false" tIns="0" lIns="0" bIns="0" rIns="0">
            <a:spAutoFit/>
          </a:bodyPr>
          <a:lstStyle/>
          <a:p>
            <a:pPr algn="ctr">
              <a:lnSpc>
                <a:spcPts val="7368"/>
              </a:lnSpc>
              <a:spcBef>
                <a:spcPct val="0"/>
              </a:spcBef>
            </a:pPr>
            <a:r>
              <a:rPr lang="en-US" sz="5263" spc="-210">
                <a:solidFill>
                  <a:srgbClr val="000000"/>
                </a:solidFill>
                <a:latin typeface="IBM Plex Serif"/>
                <a:ea typeface="IBM Plex Serif"/>
                <a:cs typeface="IBM Plex Serif"/>
                <a:sym typeface="IBM Plex Serif"/>
              </a:rPr>
              <a:t>Methodology</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1717100"/>
            <a:ext cx="16040257" cy="1219836"/>
          </a:xfrm>
          <a:prstGeom prst="rect">
            <a:avLst/>
          </a:prstGeom>
        </p:spPr>
        <p:txBody>
          <a:bodyPr anchor="t" rtlCol="false" tIns="0" lIns="0" bIns="0" rIns="0">
            <a:spAutoFit/>
          </a:bodyPr>
          <a:lstStyle/>
          <a:p>
            <a:pPr algn="just">
              <a:lnSpc>
                <a:spcPts val="9939"/>
              </a:lnSpc>
            </a:pPr>
            <a:r>
              <a:rPr lang="en-US" sz="7099" spc="-283">
                <a:solidFill>
                  <a:srgbClr val="36211B"/>
                </a:solidFill>
                <a:latin typeface="IBM Plex Serif"/>
                <a:ea typeface="IBM Plex Serif"/>
                <a:cs typeface="IBM Plex Serif"/>
                <a:sym typeface="IBM Plex Serif"/>
              </a:rPr>
              <a:t>Implementation: Backend Foundation</a:t>
            </a:r>
          </a:p>
        </p:txBody>
      </p:sp>
      <p:sp>
        <p:nvSpPr>
          <p:cNvPr name="TextBox 4" id="4"/>
          <p:cNvSpPr txBox="true"/>
          <p:nvPr/>
        </p:nvSpPr>
        <p:spPr>
          <a:xfrm rot="0">
            <a:off x="1658855" y="3659505"/>
            <a:ext cx="15147141" cy="4855210"/>
          </a:xfrm>
          <a:prstGeom prst="rect">
            <a:avLst/>
          </a:prstGeom>
        </p:spPr>
        <p:txBody>
          <a:bodyPr anchor="t" rtlCol="false" tIns="0" lIns="0" bIns="0" rIns="0">
            <a:spAutoFit/>
          </a:bodyPr>
          <a:lstStyle/>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Environmen</a:t>
            </a:r>
            <a:r>
              <a:rPr lang="en-US" b="true" sz="3099">
                <a:solidFill>
                  <a:srgbClr val="36211B"/>
                </a:solidFill>
                <a:latin typeface="Canva Sans Bold"/>
                <a:ea typeface="Canva Sans Bold"/>
                <a:cs typeface="Canva Sans Bold"/>
                <a:sym typeface="Canva Sans Bold"/>
              </a:rPr>
              <a:t>t Setup: Initialized a Node.js project and configured the Express.js server.</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API E</a:t>
            </a:r>
            <a:r>
              <a:rPr lang="en-US" b="true" sz="3099">
                <a:solidFill>
                  <a:srgbClr val="36211B"/>
                </a:solidFill>
                <a:latin typeface="Canva Sans Bold"/>
                <a:ea typeface="Canva Sans Bold"/>
                <a:cs typeface="Canva Sans Bold"/>
                <a:sym typeface="Canva Sans Bold"/>
              </a:rPr>
              <a:t>ndpoints: Created RESTful API routes for user authentication (Register/Login), image upload, and fetching analysis history.</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Database Schema: Designed a flexible schema in MongoDB using Mongoose to store user information and analysis results.</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Security: Implemented basic security measures, including environment variables for sensitive keys and data validation.</a:t>
            </a:r>
          </a:p>
          <a:p>
            <a:pPr algn="just">
              <a:lnSpc>
                <a:spcPts val="4339"/>
              </a:lnSpc>
            </a:pP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1717100"/>
            <a:ext cx="16040257" cy="1219836"/>
          </a:xfrm>
          <a:prstGeom prst="rect">
            <a:avLst/>
          </a:prstGeom>
        </p:spPr>
        <p:txBody>
          <a:bodyPr anchor="t" rtlCol="false" tIns="0" lIns="0" bIns="0" rIns="0">
            <a:spAutoFit/>
          </a:bodyPr>
          <a:lstStyle/>
          <a:p>
            <a:pPr algn="ctr">
              <a:lnSpc>
                <a:spcPts val="9939"/>
              </a:lnSpc>
            </a:pPr>
            <a:r>
              <a:rPr lang="en-US" sz="7099" spc="-283">
                <a:solidFill>
                  <a:srgbClr val="36211B"/>
                </a:solidFill>
                <a:latin typeface="IBM Plex Serif"/>
                <a:ea typeface="IBM Plex Serif"/>
                <a:cs typeface="IBM Plex Serif"/>
                <a:sym typeface="IBM Plex Serif"/>
              </a:rPr>
              <a:t>Implementation: The AI Core</a:t>
            </a:r>
          </a:p>
        </p:txBody>
      </p:sp>
      <p:sp>
        <p:nvSpPr>
          <p:cNvPr name="TextBox 4" id="4"/>
          <p:cNvSpPr txBox="true"/>
          <p:nvPr/>
        </p:nvSpPr>
        <p:spPr>
          <a:xfrm rot="0">
            <a:off x="1475258" y="4044950"/>
            <a:ext cx="15147141" cy="4855210"/>
          </a:xfrm>
          <a:prstGeom prst="rect">
            <a:avLst/>
          </a:prstGeom>
        </p:spPr>
        <p:txBody>
          <a:bodyPr anchor="t" rtlCol="false" tIns="0" lIns="0" bIns="0" rIns="0">
            <a:spAutoFit/>
          </a:bodyPr>
          <a:lstStyle/>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Model</a:t>
            </a:r>
            <a:r>
              <a:rPr lang="en-US" b="true" sz="3099">
                <a:solidFill>
                  <a:srgbClr val="36211B"/>
                </a:solidFill>
                <a:latin typeface="Canva Sans Bold"/>
                <a:ea typeface="Canva Sans Bold"/>
                <a:cs typeface="Canva Sans Bold"/>
                <a:sym typeface="Canva Sans Bold"/>
              </a:rPr>
              <a:t> Selection: Chose the pre-trained MobileNetV2 model for its balance of high accuracy and low computational cost.</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Fine-Tu</a:t>
            </a:r>
            <a:r>
              <a:rPr lang="en-US" b="true" sz="3099">
                <a:solidFill>
                  <a:srgbClr val="36211B"/>
                </a:solidFill>
                <a:latin typeface="Canva Sans Bold"/>
                <a:ea typeface="Canva Sans Bold"/>
                <a:cs typeface="Canva Sans Bold"/>
                <a:sym typeface="Canva Sans Bold"/>
              </a:rPr>
              <a:t>ning (Optional): The model was potentially fine-tuned on a custom dataset of skin conditions to improve its specificity.</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API</a:t>
            </a:r>
            <a:r>
              <a:rPr lang="en-US" b="true" sz="3099">
                <a:solidFill>
                  <a:srgbClr val="36211B"/>
                </a:solidFill>
                <a:latin typeface="Canva Sans Bold"/>
                <a:ea typeface="Canva Sans Bold"/>
                <a:cs typeface="Canva Sans Bold"/>
                <a:sym typeface="Canva Sans Bold"/>
              </a:rPr>
              <a:t> Wrapping: Developed a lightweight Python service (using Flask or FastAPI) to "wrap" the TensorFlow/Keras model. This service exposes a simple API endpoint that accepts an image and returns a JSON object with the prediction.</a:t>
            </a:r>
          </a:p>
          <a:p>
            <a:pPr algn="just">
              <a:lnSpc>
                <a:spcPts val="4339"/>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1717100"/>
            <a:ext cx="16040257" cy="1219836"/>
          </a:xfrm>
          <a:prstGeom prst="rect">
            <a:avLst/>
          </a:prstGeom>
        </p:spPr>
        <p:txBody>
          <a:bodyPr anchor="t" rtlCol="false" tIns="0" lIns="0" bIns="0" rIns="0">
            <a:spAutoFit/>
          </a:bodyPr>
          <a:lstStyle/>
          <a:p>
            <a:pPr algn="ctr">
              <a:lnSpc>
                <a:spcPts val="9939"/>
              </a:lnSpc>
            </a:pPr>
            <a:r>
              <a:rPr lang="en-US" sz="7099" spc="-283">
                <a:solidFill>
                  <a:srgbClr val="36211B"/>
                </a:solidFill>
                <a:latin typeface="IBM Plex Serif"/>
                <a:ea typeface="IBM Plex Serif"/>
                <a:cs typeface="IBM Plex Serif"/>
                <a:sym typeface="IBM Plex Serif"/>
              </a:rPr>
              <a:t>Implementation: The User Interface</a:t>
            </a:r>
          </a:p>
        </p:txBody>
      </p:sp>
      <p:sp>
        <p:nvSpPr>
          <p:cNvPr name="TextBox 4" id="4"/>
          <p:cNvSpPr txBox="true"/>
          <p:nvPr/>
        </p:nvSpPr>
        <p:spPr>
          <a:xfrm rot="0">
            <a:off x="1475258" y="3502025"/>
            <a:ext cx="15147141" cy="5398135"/>
          </a:xfrm>
          <a:prstGeom prst="rect">
            <a:avLst/>
          </a:prstGeom>
        </p:spPr>
        <p:txBody>
          <a:bodyPr anchor="t" rtlCol="false" tIns="0" lIns="0" bIns="0" rIns="0">
            <a:spAutoFit/>
          </a:bodyPr>
          <a:lstStyle/>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Component</a:t>
            </a:r>
            <a:r>
              <a:rPr lang="en-US" b="true" sz="3099">
                <a:solidFill>
                  <a:srgbClr val="36211B"/>
                </a:solidFill>
                <a:latin typeface="Canva Sans Bold"/>
                <a:ea typeface="Canva Sans Bold"/>
                <a:cs typeface="Canva Sans Bold"/>
                <a:sym typeface="Canva Sans Bold"/>
              </a:rPr>
              <a:t> Structure: Built the UI with reusable React components for the navigation bar, file upload module, results display card, and user dashboard.</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State Management: Used React Hooks (l</a:t>
            </a:r>
            <a:r>
              <a:rPr lang="en-US" b="true" sz="3099">
                <a:solidFill>
                  <a:srgbClr val="36211B"/>
                </a:solidFill>
                <a:latin typeface="Canva Sans Bold"/>
                <a:ea typeface="Canva Sans Bold"/>
                <a:cs typeface="Canva Sans Bold"/>
                <a:sym typeface="Canva Sans Bold"/>
              </a:rPr>
              <a:t>ike useState a</a:t>
            </a:r>
            <a:r>
              <a:rPr lang="en-US" b="true" sz="3099">
                <a:solidFill>
                  <a:srgbClr val="36211B"/>
                </a:solidFill>
                <a:latin typeface="Canva Sans Bold"/>
                <a:ea typeface="Canva Sans Bold"/>
                <a:cs typeface="Canva Sans Bold"/>
                <a:sym typeface="Canva Sans Bold"/>
              </a:rPr>
              <a:t>nd useEffect) to manage component state and handle asynchronous API calls.</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API Connection: Integrated the axios library to communicate with</a:t>
            </a:r>
            <a:r>
              <a:rPr lang="en-US" b="true" sz="3099">
                <a:solidFill>
                  <a:srgbClr val="36211B"/>
                </a:solidFill>
                <a:latin typeface="Canva Sans Bold"/>
                <a:ea typeface="Canva Sans Bold"/>
                <a:cs typeface="Canva Sans Bold"/>
                <a:sym typeface="Canva Sans Bold"/>
              </a:rPr>
              <a:t> our backend, sending the uploaded image and receiving the analysis results.</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Responsive Design: Used CSS Flexbox/Grid and media queries to ensure the application works flawlessly on desktops, tablets, and mobile devices.</a:t>
            </a:r>
          </a:p>
          <a:p>
            <a:pPr algn="just">
              <a:lnSpc>
                <a:spcPts val="4339"/>
              </a:lnSpc>
            </a:pP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TextBox 2" id="2"/>
          <p:cNvSpPr txBox="true"/>
          <p:nvPr/>
        </p:nvSpPr>
        <p:spPr>
          <a:xfrm rot="0">
            <a:off x="1028700" y="1800560"/>
            <a:ext cx="14034598" cy="955845"/>
          </a:xfrm>
          <a:prstGeom prst="rect">
            <a:avLst/>
          </a:prstGeom>
        </p:spPr>
        <p:txBody>
          <a:bodyPr anchor="t" rtlCol="false" tIns="0" lIns="0" bIns="0" rIns="0">
            <a:spAutoFit/>
          </a:bodyPr>
          <a:lstStyle/>
          <a:p>
            <a:pPr algn="l" marL="0" indent="0" lvl="0">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name="TextBox 3" id="3"/>
          <p:cNvSpPr txBox="true"/>
          <p:nvPr/>
        </p:nvSpPr>
        <p:spPr>
          <a:xfrm rot="0">
            <a:off x="1028700" y="981075"/>
            <a:ext cx="8091140" cy="389297"/>
          </a:xfrm>
          <a:prstGeom prst="rect">
            <a:avLst/>
          </a:prstGeom>
        </p:spPr>
        <p:txBody>
          <a:bodyPr anchor="t" rtlCol="false" tIns="0" lIns="0" bIns="0" rIns="0">
            <a:spAutoFit/>
          </a:bodyPr>
          <a:lstStyle/>
          <a:p>
            <a:pPr algn="l" marL="0" indent="0" lvl="0">
              <a:lnSpc>
                <a:spcPts val="3217"/>
              </a:lnSpc>
              <a:spcBef>
                <a:spcPct val="0"/>
              </a:spcBef>
            </a:pPr>
            <a:r>
              <a:rPr lang="en-US" b="true" sz="2298">
                <a:solidFill>
                  <a:srgbClr val="36211B"/>
                </a:solidFill>
                <a:latin typeface="Canva Sans Bold"/>
                <a:ea typeface="Canva Sans Bold"/>
                <a:cs typeface="Canva Sans Bold"/>
                <a:sym typeface="Canva Sans Bold"/>
              </a:rPr>
              <a:t>Home Page</a:t>
            </a:r>
          </a:p>
        </p:txBody>
      </p:sp>
      <p:sp>
        <p:nvSpPr>
          <p:cNvPr name="AutoShape 4" id="4"/>
          <p:cNvSpPr/>
          <p:nvPr/>
        </p:nvSpPr>
        <p:spPr>
          <a:xfrm rot="0">
            <a:off x="1028700" y="1515576"/>
            <a:ext cx="16230600" cy="64082"/>
          </a:xfrm>
          <a:prstGeom prst="rect">
            <a:avLst/>
          </a:prstGeom>
          <a:solidFill>
            <a:srgbClr val="FFFFFF"/>
          </a:solidFill>
        </p:spPr>
      </p:sp>
      <p:sp>
        <p:nvSpPr>
          <p:cNvPr name="Freeform 5" id="5"/>
          <p:cNvSpPr/>
          <p:nvPr/>
        </p:nvSpPr>
        <p:spPr>
          <a:xfrm flipH="false" flipV="false" rot="0">
            <a:off x="2961463" y="3285935"/>
            <a:ext cx="12377958" cy="5972365"/>
          </a:xfrm>
          <a:custGeom>
            <a:avLst/>
            <a:gdLst/>
            <a:ahLst/>
            <a:cxnLst/>
            <a:rect r="r" b="b" t="t" l="l"/>
            <a:pathLst>
              <a:path h="5972365" w="12377958">
                <a:moveTo>
                  <a:pt x="0" y="0"/>
                </a:moveTo>
                <a:lnTo>
                  <a:pt x="12377958" y="0"/>
                </a:lnTo>
                <a:lnTo>
                  <a:pt x="12377958" y="5972365"/>
                </a:lnTo>
                <a:lnTo>
                  <a:pt x="0" y="5972365"/>
                </a:lnTo>
                <a:lnTo>
                  <a:pt x="0" y="0"/>
                </a:lnTo>
                <a:close/>
              </a:path>
            </a:pathLst>
          </a:custGeom>
          <a:blipFill>
            <a:blip r:embed="rId2"/>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AutoShape 2" id="2"/>
          <p:cNvSpPr/>
          <p:nvPr/>
        </p:nvSpPr>
        <p:spPr>
          <a:xfrm rot="0">
            <a:off x="1028700" y="1515576"/>
            <a:ext cx="16230600" cy="64082"/>
          </a:xfrm>
          <a:prstGeom prst="rect">
            <a:avLst/>
          </a:prstGeom>
          <a:solidFill>
            <a:srgbClr val="FFFFFF"/>
          </a:solidFill>
        </p:spPr>
      </p:sp>
      <p:sp>
        <p:nvSpPr>
          <p:cNvPr name="Freeform 3" id="3"/>
          <p:cNvSpPr/>
          <p:nvPr/>
        </p:nvSpPr>
        <p:spPr>
          <a:xfrm flipH="false" flipV="false" rot="0">
            <a:off x="2894790" y="3616977"/>
            <a:ext cx="12168508" cy="5749620"/>
          </a:xfrm>
          <a:custGeom>
            <a:avLst/>
            <a:gdLst/>
            <a:ahLst/>
            <a:cxnLst/>
            <a:rect r="r" b="b" t="t" l="l"/>
            <a:pathLst>
              <a:path h="5749620" w="12168508">
                <a:moveTo>
                  <a:pt x="0" y="0"/>
                </a:moveTo>
                <a:lnTo>
                  <a:pt x="12168508" y="0"/>
                </a:lnTo>
                <a:lnTo>
                  <a:pt x="12168508" y="5749620"/>
                </a:lnTo>
                <a:lnTo>
                  <a:pt x="0" y="5749620"/>
                </a:lnTo>
                <a:lnTo>
                  <a:pt x="0" y="0"/>
                </a:lnTo>
                <a:close/>
              </a:path>
            </a:pathLst>
          </a:custGeom>
          <a:blipFill>
            <a:blip r:embed="rId2"/>
            <a:stretch>
              <a:fillRect l="0" t="0" r="0" b="0"/>
            </a:stretch>
          </a:blipFill>
        </p:spPr>
      </p:sp>
      <p:sp>
        <p:nvSpPr>
          <p:cNvPr name="TextBox 4" id="4"/>
          <p:cNvSpPr txBox="true"/>
          <p:nvPr/>
        </p:nvSpPr>
        <p:spPr>
          <a:xfrm rot="0">
            <a:off x="1028700" y="1800560"/>
            <a:ext cx="14034598" cy="955845"/>
          </a:xfrm>
          <a:prstGeom prst="rect">
            <a:avLst/>
          </a:prstGeom>
        </p:spPr>
        <p:txBody>
          <a:bodyPr anchor="t" rtlCol="false" tIns="0" lIns="0" bIns="0" rIns="0">
            <a:spAutoFit/>
          </a:bodyPr>
          <a:lstStyle/>
          <a:p>
            <a:pPr algn="l" marL="0" indent="0" lvl="0">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name="TextBox 5" id="5"/>
          <p:cNvSpPr txBox="true"/>
          <p:nvPr/>
        </p:nvSpPr>
        <p:spPr>
          <a:xfrm rot="0">
            <a:off x="1028700" y="981075"/>
            <a:ext cx="8091140" cy="389297"/>
          </a:xfrm>
          <a:prstGeom prst="rect">
            <a:avLst/>
          </a:prstGeom>
        </p:spPr>
        <p:txBody>
          <a:bodyPr anchor="t" rtlCol="false" tIns="0" lIns="0" bIns="0" rIns="0">
            <a:spAutoFit/>
          </a:bodyPr>
          <a:lstStyle/>
          <a:p>
            <a:pPr algn="l" marL="0" indent="0" lvl="0">
              <a:lnSpc>
                <a:spcPts val="3217"/>
              </a:lnSpc>
              <a:spcBef>
                <a:spcPct val="0"/>
              </a:spcBef>
            </a:pPr>
            <a:r>
              <a:rPr lang="en-US" b="true" sz="2298">
                <a:solidFill>
                  <a:srgbClr val="36211B"/>
                </a:solidFill>
                <a:latin typeface="Canva Sans Bold"/>
                <a:ea typeface="Canva Sans Bold"/>
                <a:cs typeface="Canva Sans Bold"/>
                <a:sym typeface="Canva Sans Bold"/>
              </a:rPr>
              <a:t>AI Chat </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AutoShape 2" id="2"/>
          <p:cNvSpPr/>
          <p:nvPr/>
        </p:nvSpPr>
        <p:spPr>
          <a:xfrm rot="0">
            <a:off x="1028700" y="1515576"/>
            <a:ext cx="16230600" cy="64082"/>
          </a:xfrm>
          <a:prstGeom prst="rect">
            <a:avLst/>
          </a:prstGeom>
          <a:solidFill>
            <a:srgbClr val="FFFFFF"/>
          </a:solidFill>
        </p:spPr>
      </p:sp>
      <p:sp>
        <p:nvSpPr>
          <p:cNvPr name="Freeform 3" id="3"/>
          <p:cNvSpPr/>
          <p:nvPr/>
        </p:nvSpPr>
        <p:spPr>
          <a:xfrm flipH="false" flipV="false" rot="0">
            <a:off x="3493371" y="3223131"/>
            <a:ext cx="11301259" cy="5353971"/>
          </a:xfrm>
          <a:custGeom>
            <a:avLst/>
            <a:gdLst/>
            <a:ahLst/>
            <a:cxnLst/>
            <a:rect r="r" b="b" t="t" l="l"/>
            <a:pathLst>
              <a:path h="5353971" w="11301259">
                <a:moveTo>
                  <a:pt x="0" y="0"/>
                </a:moveTo>
                <a:lnTo>
                  <a:pt x="11301258" y="0"/>
                </a:lnTo>
                <a:lnTo>
                  <a:pt x="11301258" y="5353971"/>
                </a:lnTo>
                <a:lnTo>
                  <a:pt x="0" y="5353971"/>
                </a:lnTo>
                <a:lnTo>
                  <a:pt x="0" y="0"/>
                </a:lnTo>
                <a:close/>
              </a:path>
            </a:pathLst>
          </a:custGeom>
          <a:blipFill>
            <a:blip r:embed="rId2"/>
            <a:stretch>
              <a:fillRect l="0" t="0" r="0" b="0"/>
            </a:stretch>
          </a:blipFill>
        </p:spPr>
      </p:sp>
      <p:sp>
        <p:nvSpPr>
          <p:cNvPr name="TextBox 4" id="4"/>
          <p:cNvSpPr txBox="true"/>
          <p:nvPr/>
        </p:nvSpPr>
        <p:spPr>
          <a:xfrm rot="0">
            <a:off x="1028700" y="1800560"/>
            <a:ext cx="14034598" cy="955845"/>
          </a:xfrm>
          <a:prstGeom prst="rect">
            <a:avLst/>
          </a:prstGeom>
        </p:spPr>
        <p:txBody>
          <a:bodyPr anchor="t" rtlCol="false" tIns="0" lIns="0" bIns="0" rIns="0">
            <a:spAutoFit/>
          </a:bodyPr>
          <a:lstStyle/>
          <a:p>
            <a:pPr algn="l" marL="0" indent="0" lvl="0">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name="TextBox 5" id="5"/>
          <p:cNvSpPr txBox="true"/>
          <p:nvPr/>
        </p:nvSpPr>
        <p:spPr>
          <a:xfrm rot="0">
            <a:off x="1028700" y="981075"/>
            <a:ext cx="8091140" cy="389297"/>
          </a:xfrm>
          <a:prstGeom prst="rect">
            <a:avLst/>
          </a:prstGeom>
        </p:spPr>
        <p:txBody>
          <a:bodyPr anchor="t" rtlCol="false" tIns="0" lIns="0" bIns="0" rIns="0">
            <a:spAutoFit/>
          </a:bodyPr>
          <a:lstStyle/>
          <a:p>
            <a:pPr algn="l" marL="0" indent="0" lvl="0">
              <a:lnSpc>
                <a:spcPts val="3217"/>
              </a:lnSpc>
              <a:spcBef>
                <a:spcPct val="0"/>
              </a:spcBef>
            </a:pPr>
            <a:r>
              <a:rPr lang="en-US" b="true" sz="2298">
                <a:solidFill>
                  <a:srgbClr val="36211B"/>
                </a:solidFill>
                <a:latin typeface="Canva Sans Bold"/>
                <a:ea typeface="Canva Sans Bold"/>
                <a:cs typeface="Canva Sans Bold"/>
                <a:sym typeface="Canva Sans Bold"/>
              </a:rPr>
              <a:t>Login </a:t>
            </a:r>
            <a:r>
              <a:rPr lang="en-US" b="true" sz="2298">
                <a:solidFill>
                  <a:srgbClr val="36211B"/>
                </a:solidFill>
                <a:latin typeface="Canva Sans Bold"/>
                <a:ea typeface="Canva Sans Bold"/>
                <a:cs typeface="Canva Sans Bold"/>
                <a:sym typeface="Canva Sans Bold"/>
              </a:rPr>
              <a:t>Page</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AutoShape 2" id="2"/>
          <p:cNvSpPr/>
          <p:nvPr/>
        </p:nvSpPr>
        <p:spPr>
          <a:xfrm rot="0">
            <a:off x="1028700" y="1515576"/>
            <a:ext cx="16230600" cy="64082"/>
          </a:xfrm>
          <a:prstGeom prst="rect">
            <a:avLst/>
          </a:prstGeom>
          <a:solidFill>
            <a:srgbClr val="FFFFFF"/>
          </a:solidFill>
        </p:spPr>
      </p:sp>
      <p:sp>
        <p:nvSpPr>
          <p:cNvPr name="Freeform 3" id="3"/>
          <p:cNvSpPr/>
          <p:nvPr/>
        </p:nvSpPr>
        <p:spPr>
          <a:xfrm flipH="false" flipV="false" rot="0">
            <a:off x="3762039" y="4183560"/>
            <a:ext cx="11301259" cy="5537617"/>
          </a:xfrm>
          <a:custGeom>
            <a:avLst/>
            <a:gdLst/>
            <a:ahLst/>
            <a:cxnLst/>
            <a:rect r="r" b="b" t="t" l="l"/>
            <a:pathLst>
              <a:path h="5537617" w="11301259">
                <a:moveTo>
                  <a:pt x="0" y="0"/>
                </a:moveTo>
                <a:lnTo>
                  <a:pt x="11301259" y="0"/>
                </a:lnTo>
                <a:lnTo>
                  <a:pt x="11301259" y="5537617"/>
                </a:lnTo>
                <a:lnTo>
                  <a:pt x="0" y="5537617"/>
                </a:lnTo>
                <a:lnTo>
                  <a:pt x="0" y="0"/>
                </a:lnTo>
                <a:close/>
              </a:path>
            </a:pathLst>
          </a:custGeom>
          <a:blipFill>
            <a:blip r:embed="rId2"/>
            <a:stretch>
              <a:fillRect l="0" t="0" r="0" b="0"/>
            </a:stretch>
          </a:blipFill>
        </p:spPr>
      </p:sp>
      <p:sp>
        <p:nvSpPr>
          <p:cNvPr name="TextBox 4" id="4"/>
          <p:cNvSpPr txBox="true"/>
          <p:nvPr/>
        </p:nvSpPr>
        <p:spPr>
          <a:xfrm rot="0">
            <a:off x="1028700" y="1800560"/>
            <a:ext cx="14034598" cy="955845"/>
          </a:xfrm>
          <a:prstGeom prst="rect">
            <a:avLst/>
          </a:prstGeom>
        </p:spPr>
        <p:txBody>
          <a:bodyPr anchor="t" rtlCol="false" tIns="0" lIns="0" bIns="0" rIns="0">
            <a:spAutoFit/>
          </a:bodyPr>
          <a:lstStyle/>
          <a:p>
            <a:pPr algn="l" marL="0" indent="0" lvl="0">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name="TextBox 5" id="5"/>
          <p:cNvSpPr txBox="true"/>
          <p:nvPr/>
        </p:nvSpPr>
        <p:spPr>
          <a:xfrm rot="0">
            <a:off x="1028700" y="981075"/>
            <a:ext cx="8091140" cy="389297"/>
          </a:xfrm>
          <a:prstGeom prst="rect">
            <a:avLst/>
          </a:prstGeom>
        </p:spPr>
        <p:txBody>
          <a:bodyPr anchor="t" rtlCol="false" tIns="0" lIns="0" bIns="0" rIns="0">
            <a:spAutoFit/>
          </a:bodyPr>
          <a:lstStyle/>
          <a:p>
            <a:pPr algn="l" marL="0" indent="0" lvl="0">
              <a:lnSpc>
                <a:spcPts val="3217"/>
              </a:lnSpc>
              <a:spcBef>
                <a:spcPct val="0"/>
              </a:spcBef>
            </a:pPr>
            <a:r>
              <a:rPr lang="en-US" b="true" sz="2298">
                <a:solidFill>
                  <a:srgbClr val="36211B"/>
                </a:solidFill>
                <a:latin typeface="Canva Sans Bold"/>
                <a:ea typeface="Canva Sans Bold"/>
                <a:cs typeface="Canva Sans Bold"/>
                <a:sym typeface="Canva Sans Bold"/>
              </a:rPr>
              <a:t>Contact Us </a:t>
            </a:r>
            <a:r>
              <a:rPr lang="en-US" b="true" sz="2298">
                <a:solidFill>
                  <a:srgbClr val="36211B"/>
                </a:solidFill>
                <a:latin typeface="Canva Sans Bold"/>
                <a:ea typeface="Canva Sans Bold"/>
                <a:cs typeface="Canva Sans Bold"/>
                <a:sym typeface="Canva Sans Bold"/>
              </a:rPr>
              <a:t>Page</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AutoShape 2" id="2"/>
          <p:cNvSpPr/>
          <p:nvPr/>
        </p:nvSpPr>
        <p:spPr>
          <a:xfrm rot="0">
            <a:off x="1028700" y="1515576"/>
            <a:ext cx="16230600" cy="64082"/>
          </a:xfrm>
          <a:prstGeom prst="rect">
            <a:avLst/>
          </a:prstGeom>
          <a:solidFill>
            <a:srgbClr val="FFFFFF"/>
          </a:solidFill>
        </p:spPr>
      </p:sp>
      <p:sp>
        <p:nvSpPr>
          <p:cNvPr name="Freeform 3" id="3"/>
          <p:cNvSpPr/>
          <p:nvPr/>
        </p:nvSpPr>
        <p:spPr>
          <a:xfrm flipH="false" flipV="false" rot="0">
            <a:off x="3762039" y="3570115"/>
            <a:ext cx="11301259" cy="5424604"/>
          </a:xfrm>
          <a:custGeom>
            <a:avLst/>
            <a:gdLst/>
            <a:ahLst/>
            <a:cxnLst/>
            <a:rect r="r" b="b" t="t" l="l"/>
            <a:pathLst>
              <a:path h="5424604" w="11301259">
                <a:moveTo>
                  <a:pt x="0" y="0"/>
                </a:moveTo>
                <a:lnTo>
                  <a:pt x="11301259" y="0"/>
                </a:lnTo>
                <a:lnTo>
                  <a:pt x="11301259" y="5424605"/>
                </a:lnTo>
                <a:lnTo>
                  <a:pt x="0" y="5424605"/>
                </a:lnTo>
                <a:lnTo>
                  <a:pt x="0" y="0"/>
                </a:lnTo>
                <a:close/>
              </a:path>
            </a:pathLst>
          </a:custGeom>
          <a:blipFill>
            <a:blip r:embed="rId2"/>
            <a:stretch>
              <a:fillRect l="0" t="0" r="0" b="0"/>
            </a:stretch>
          </a:blipFill>
        </p:spPr>
      </p:sp>
      <p:sp>
        <p:nvSpPr>
          <p:cNvPr name="TextBox 4" id="4"/>
          <p:cNvSpPr txBox="true"/>
          <p:nvPr/>
        </p:nvSpPr>
        <p:spPr>
          <a:xfrm rot="0">
            <a:off x="1028700" y="1800560"/>
            <a:ext cx="14034598" cy="955845"/>
          </a:xfrm>
          <a:prstGeom prst="rect">
            <a:avLst/>
          </a:prstGeom>
        </p:spPr>
        <p:txBody>
          <a:bodyPr anchor="t" rtlCol="false" tIns="0" lIns="0" bIns="0" rIns="0">
            <a:spAutoFit/>
          </a:bodyPr>
          <a:lstStyle/>
          <a:p>
            <a:pPr algn="l" marL="0" indent="0" lvl="0">
              <a:lnSpc>
                <a:spcPts val="7686"/>
              </a:lnSpc>
            </a:pPr>
            <a:r>
              <a:rPr lang="en-US" sz="6052" spc="-242">
                <a:solidFill>
                  <a:srgbClr val="36211B"/>
                </a:solidFill>
                <a:latin typeface="IBM Plex Serif"/>
                <a:ea typeface="IBM Plex Serif"/>
                <a:cs typeface="IBM Plex Serif"/>
                <a:sym typeface="IBM Plex Serif"/>
              </a:rPr>
              <a:t>Application Screenshots</a:t>
            </a:r>
          </a:p>
        </p:txBody>
      </p:sp>
      <p:sp>
        <p:nvSpPr>
          <p:cNvPr name="TextBox 5" id="5"/>
          <p:cNvSpPr txBox="true"/>
          <p:nvPr/>
        </p:nvSpPr>
        <p:spPr>
          <a:xfrm rot="0">
            <a:off x="1028700" y="981075"/>
            <a:ext cx="8091140" cy="389297"/>
          </a:xfrm>
          <a:prstGeom prst="rect">
            <a:avLst/>
          </a:prstGeom>
        </p:spPr>
        <p:txBody>
          <a:bodyPr anchor="t" rtlCol="false" tIns="0" lIns="0" bIns="0" rIns="0">
            <a:spAutoFit/>
          </a:bodyPr>
          <a:lstStyle/>
          <a:p>
            <a:pPr algn="l" marL="0" indent="0" lvl="0">
              <a:lnSpc>
                <a:spcPts val="3217"/>
              </a:lnSpc>
              <a:spcBef>
                <a:spcPct val="0"/>
              </a:spcBef>
            </a:pPr>
            <a:r>
              <a:rPr lang="en-US" b="true" sz="2298">
                <a:solidFill>
                  <a:srgbClr val="36211B"/>
                </a:solidFill>
                <a:latin typeface="Canva Sans Bold"/>
                <a:ea typeface="Canva Sans Bold"/>
                <a:cs typeface="Canva Sans Bold"/>
                <a:sym typeface="Canva Sans Bold"/>
              </a:rPr>
              <a:t>Bloom skin Guide  </a:t>
            </a:r>
            <a:r>
              <a:rPr lang="en-US" b="true" sz="2298">
                <a:solidFill>
                  <a:srgbClr val="36211B"/>
                </a:solidFill>
                <a:latin typeface="Canva Sans Bold"/>
                <a:ea typeface="Canva Sans Bold"/>
                <a:cs typeface="Canva Sans Bold"/>
                <a:sym typeface="Canva Sans Bold"/>
              </a:rPr>
              <a:t>Page</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028700" y="1302816"/>
            <a:ext cx="16230600" cy="1094740"/>
          </a:xfrm>
          <a:prstGeom prst="rect">
            <a:avLst/>
          </a:prstGeom>
        </p:spPr>
        <p:txBody>
          <a:bodyPr anchor="t" rtlCol="false" tIns="0" lIns="0" bIns="0" rIns="0">
            <a:spAutoFit/>
          </a:bodyPr>
          <a:lstStyle/>
          <a:p>
            <a:pPr algn="l">
              <a:lnSpc>
                <a:spcPts val="8959"/>
              </a:lnSpc>
            </a:pPr>
            <a:r>
              <a:rPr lang="en-US" sz="6399" spc="-255">
                <a:solidFill>
                  <a:srgbClr val="36211B"/>
                </a:solidFill>
                <a:latin typeface="IBM Plex Serif"/>
                <a:ea typeface="IBM Plex Serif"/>
                <a:cs typeface="IBM Plex Serif"/>
                <a:sym typeface="IBM Plex Serif"/>
              </a:rPr>
              <a:t>Future Scope</a:t>
            </a:r>
          </a:p>
        </p:txBody>
      </p:sp>
      <p:sp>
        <p:nvSpPr>
          <p:cNvPr name="TextBox 4" id="4"/>
          <p:cNvSpPr txBox="true"/>
          <p:nvPr/>
        </p:nvSpPr>
        <p:spPr>
          <a:xfrm rot="0">
            <a:off x="1475258" y="3502025"/>
            <a:ext cx="15147141" cy="5941060"/>
          </a:xfrm>
          <a:prstGeom prst="rect">
            <a:avLst/>
          </a:prstGeom>
        </p:spPr>
        <p:txBody>
          <a:bodyPr anchor="t" rtlCol="false" tIns="0" lIns="0" bIns="0" rIns="0">
            <a:spAutoFit/>
          </a:bodyPr>
          <a:lstStyle/>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Advanced Condition Dete</a:t>
            </a:r>
            <a:r>
              <a:rPr lang="en-US" b="true" sz="3099">
                <a:solidFill>
                  <a:srgbClr val="36211B"/>
                </a:solidFill>
                <a:latin typeface="Canva Sans Bold"/>
                <a:ea typeface="Canva Sans Bold"/>
                <a:cs typeface="Canva Sans Bold"/>
                <a:sym typeface="Canva Sans Bold"/>
              </a:rPr>
              <a:t>ction: Expand the model to recognize a wider range of dermatological conditions, including moles, rosacea, and eczema.</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Progress Tracking: Allow users to upload images over time to create a visual timeline of their skin's h</a:t>
            </a:r>
            <a:r>
              <a:rPr lang="en-US" b="true" sz="3099">
                <a:solidFill>
                  <a:srgbClr val="36211B"/>
                </a:solidFill>
                <a:latin typeface="Canva Sans Bold"/>
                <a:ea typeface="Canva Sans Bold"/>
                <a:cs typeface="Canva Sans Bold"/>
                <a:sym typeface="Canva Sans Bold"/>
              </a:rPr>
              <a:t>ealth a</a:t>
            </a:r>
            <a:r>
              <a:rPr lang="en-US" b="true" sz="3099">
                <a:solidFill>
                  <a:srgbClr val="36211B"/>
                </a:solidFill>
                <a:latin typeface="Canva Sans Bold"/>
                <a:ea typeface="Canva Sans Bold"/>
                <a:cs typeface="Canva Sans Bold"/>
                <a:sym typeface="Canva Sans Bold"/>
              </a:rPr>
              <a:t>nd track the effectiveness of their routine.</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Personalised Product Recommendations: Integrate with e-commerce APIs to suggest specific, t</a:t>
            </a:r>
            <a:r>
              <a:rPr lang="en-US" b="true" sz="3099">
                <a:solidFill>
                  <a:srgbClr val="36211B"/>
                </a:solidFill>
                <a:latin typeface="Canva Sans Bold"/>
                <a:ea typeface="Canva Sans Bold"/>
                <a:cs typeface="Canva Sans Bold"/>
                <a:sym typeface="Canva Sans Bold"/>
              </a:rPr>
              <a:t>op-rated skincare products based on the analysis results.</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T</a:t>
            </a:r>
            <a:r>
              <a:rPr lang="en-US" b="true" sz="3099">
                <a:solidFill>
                  <a:srgbClr val="36211B"/>
                </a:solidFill>
                <a:latin typeface="Canva Sans Bold"/>
                <a:ea typeface="Canva Sans Bold"/>
                <a:cs typeface="Canva Sans Bold"/>
                <a:sym typeface="Canva Sans Bold"/>
              </a:rPr>
              <a:t>ele-Dermatology Link: Create a feature to connect users with certified dermatologists for a professional consultation directly through the platform.</a:t>
            </a:r>
          </a:p>
          <a:p>
            <a:pPr algn="just">
              <a:lnSpc>
                <a:spcPts val="4339"/>
              </a:lnSpc>
            </a:pP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9910777"/>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181100" y="1455216"/>
            <a:ext cx="16230600" cy="1094740"/>
          </a:xfrm>
          <a:prstGeom prst="rect">
            <a:avLst/>
          </a:prstGeom>
        </p:spPr>
        <p:txBody>
          <a:bodyPr anchor="t" rtlCol="false" tIns="0" lIns="0" bIns="0" rIns="0">
            <a:spAutoFit/>
          </a:bodyPr>
          <a:lstStyle/>
          <a:p>
            <a:pPr algn="l">
              <a:lnSpc>
                <a:spcPts val="8959"/>
              </a:lnSpc>
            </a:pPr>
            <a:r>
              <a:rPr lang="en-US" sz="6399" spc="-255">
                <a:solidFill>
                  <a:srgbClr val="36211B"/>
                </a:solidFill>
                <a:latin typeface="IBM Plex Serif"/>
                <a:ea typeface="IBM Plex Serif"/>
                <a:cs typeface="IBM Plex Serif"/>
                <a:sym typeface="IBM Plex Serif"/>
              </a:rPr>
              <a:t>Conclusion:</a:t>
            </a:r>
          </a:p>
        </p:txBody>
      </p:sp>
      <p:sp>
        <p:nvSpPr>
          <p:cNvPr name="TextBox 4" id="4"/>
          <p:cNvSpPr txBox="true"/>
          <p:nvPr/>
        </p:nvSpPr>
        <p:spPr>
          <a:xfrm rot="0">
            <a:off x="1475258" y="3502025"/>
            <a:ext cx="15147141" cy="4855210"/>
          </a:xfrm>
          <a:prstGeom prst="rect">
            <a:avLst/>
          </a:prstGeom>
        </p:spPr>
        <p:txBody>
          <a:bodyPr anchor="t" rtlCol="false" tIns="0" lIns="0" bIns="0" rIns="0">
            <a:spAutoFit/>
          </a:bodyPr>
          <a:lstStyle/>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The MobileNe</a:t>
            </a:r>
            <a:r>
              <a:rPr lang="en-US" b="true" sz="3099">
                <a:solidFill>
                  <a:srgbClr val="36211B"/>
                </a:solidFill>
                <a:latin typeface="Canva Sans Bold"/>
                <a:ea typeface="Canva Sans Bold"/>
                <a:cs typeface="Canva Sans Bold"/>
                <a:sym typeface="Canva Sans Bold"/>
              </a:rPr>
              <a:t>tV2 model achieved around 85% accuracy in identifying acne, dark spots, and pimples on the validation dataset.</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The system offers real-time, person</a:t>
            </a:r>
            <a:r>
              <a:rPr lang="en-US" b="true" sz="3099">
                <a:solidFill>
                  <a:srgbClr val="36211B"/>
                </a:solidFill>
                <a:latin typeface="Canva Sans Bold"/>
                <a:ea typeface="Canva Sans Bold"/>
                <a:cs typeface="Canva Sans Bold"/>
                <a:sym typeface="Canva Sans Bold"/>
              </a:rPr>
              <a:t>alized ca</a:t>
            </a:r>
            <a:r>
              <a:rPr lang="en-US" b="true" sz="3099">
                <a:solidFill>
                  <a:srgbClr val="36211B"/>
                </a:solidFill>
                <a:latin typeface="Canva Sans Bold"/>
                <a:ea typeface="Canva Sans Bold"/>
                <a:cs typeface="Canva Sans Bold"/>
                <a:sym typeface="Canva Sans Bold"/>
              </a:rPr>
              <a:t>re suggestions based on detected skin conditions.</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E</a:t>
            </a:r>
            <a:r>
              <a:rPr lang="en-US" b="true" sz="3099">
                <a:solidFill>
                  <a:srgbClr val="36211B"/>
                </a:solidFill>
                <a:latin typeface="Canva Sans Bold"/>
                <a:ea typeface="Canva Sans Bold"/>
                <a:cs typeface="Canva Sans Bold"/>
                <a:sym typeface="Canva Sans Bold"/>
              </a:rPr>
              <a:t>nables end-to-end accessibility, allowing instant self-assessmen</a:t>
            </a:r>
            <a:r>
              <a:rPr lang="en-US" b="true" sz="3099">
                <a:solidFill>
                  <a:srgbClr val="36211B"/>
                </a:solidFill>
                <a:latin typeface="Canva Sans Bold"/>
                <a:ea typeface="Canva Sans Bold"/>
                <a:cs typeface="Canva Sans Bold"/>
                <a:sym typeface="Canva Sans Bold"/>
              </a:rPr>
              <a:t>t from image upload to result display.</a:t>
            </a:r>
          </a:p>
          <a:p>
            <a:pPr algn="just" marL="669286" indent="-334643" lvl="1">
              <a:lnSpc>
                <a:spcPts val="4339"/>
              </a:lnSpc>
              <a:buFont typeface="Arial"/>
              <a:buChar char="•"/>
            </a:pPr>
            <a:r>
              <a:rPr lang="en-US" b="true" sz="3099">
                <a:solidFill>
                  <a:srgbClr val="36211B"/>
                </a:solidFill>
                <a:latin typeface="Canva Sans Bold"/>
                <a:ea typeface="Canva Sans Bold"/>
                <a:cs typeface="Canva Sans Bold"/>
                <a:sym typeface="Canva Sans Bold"/>
              </a:rPr>
              <a:t>Serves as a powerful AI tool b</a:t>
            </a:r>
            <a:r>
              <a:rPr lang="en-US" b="true" sz="3099">
                <a:solidFill>
                  <a:srgbClr val="36211B"/>
                </a:solidFill>
                <a:latin typeface="Canva Sans Bold"/>
                <a:ea typeface="Canva Sans Bold"/>
                <a:cs typeface="Canva Sans Bold"/>
                <a:sym typeface="Canva Sans Bold"/>
              </a:rPr>
              <a:t>ridging the gap to professional care while empowering users.</a:t>
            </a:r>
          </a:p>
          <a:p>
            <a:pPr algn="just">
              <a:lnSpc>
                <a:spcPts val="4339"/>
              </a:lnSpc>
            </a:pP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E8E6E3"/>
        </a:solidFill>
      </p:bgPr>
    </p:bg>
    <p:spTree>
      <p:nvGrpSpPr>
        <p:cNvPr id="1" name=""/>
        <p:cNvGrpSpPr/>
        <p:nvPr/>
      </p:nvGrpSpPr>
      <p:grpSpPr>
        <a:xfrm>
          <a:off x="0" y="0"/>
          <a:ext cx="0" cy="0"/>
          <a:chOff x="0" y="0"/>
          <a:chExt cx="0" cy="0"/>
        </a:xfrm>
      </p:grpSpPr>
      <p:sp>
        <p:nvSpPr>
          <p:cNvPr name="Freeform 2" id="2"/>
          <p:cNvSpPr/>
          <p:nvPr/>
        </p:nvSpPr>
        <p:spPr>
          <a:xfrm flipH="false" flipV="false" rot="0">
            <a:off x="0" y="9910777"/>
            <a:ext cx="18288000" cy="376223"/>
          </a:xfrm>
          <a:custGeom>
            <a:avLst/>
            <a:gdLst/>
            <a:ahLst/>
            <a:cxnLst/>
            <a:rect r="r" b="b" t="t" l="l"/>
            <a:pathLst>
              <a:path h="376223" w="18288000">
                <a:moveTo>
                  <a:pt x="0" y="0"/>
                </a:moveTo>
                <a:lnTo>
                  <a:pt x="18288000" y="0"/>
                </a:lnTo>
                <a:lnTo>
                  <a:pt x="18288000" y="376223"/>
                </a:lnTo>
                <a:lnTo>
                  <a:pt x="0" y="376223"/>
                </a:lnTo>
                <a:lnTo>
                  <a:pt x="0" y="0"/>
                </a:lnTo>
                <a:close/>
              </a:path>
            </a:pathLst>
          </a:custGeom>
          <a:blipFill>
            <a:blip r:embed="rId2"/>
            <a:stretch>
              <a:fillRect l="0" t="-1531929" r="0" b="-1102351"/>
            </a:stretch>
          </a:blipFill>
        </p:spPr>
      </p:sp>
      <p:sp>
        <p:nvSpPr>
          <p:cNvPr name="TextBox 3" id="3"/>
          <p:cNvSpPr txBox="true"/>
          <p:nvPr/>
        </p:nvSpPr>
        <p:spPr>
          <a:xfrm rot="0">
            <a:off x="1181100" y="1455216"/>
            <a:ext cx="16230600" cy="1094740"/>
          </a:xfrm>
          <a:prstGeom prst="rect">
            <a:avLst/>
          </a:prstGeom>
        </p:spPr>
        <p:txBody>
          <a:bodyPr anchor="t" rtlCol="false" tIns="0" lIns="0" bIns="0" rIns="0">
            <a:spAutoFit/>
          </a:bodyPr>
          <a:lstStyle/>
          <a:p>
            <a:pPr algn="l">
              <a:lnSpc>
                <a:spcPts val="8959"/>
              </a:lnSpc>
            </a:pPr>
            <a:r>
              <a:rPr lang="en-US" sz="6399" spc="-255">
                <a:solidFill>
                  <a:srgbClr val="36211B"/>
                </a:solidFill>
                <a:latin typeface="IBM Plex Serif"/>
                <a:ea typeface="IBM Plex Serif"/>
                <a:cs typeface="IBM Plex Serif"/>
                <a:sym typeface="IBM Plex Serif"/>
              </a:rPr>
              <a:t>Refrences:</a:t>
            </a:r>
          </a:p>
        </p:txBody>
      </p:sp>
      <p:sp>
        <p:nvSpPr>
          <p:cNvPr name="TextBox 4" id="4"/>
          <p:cNvSpPr txBox="true"/>
          <p:nvPr/>
        </p:nvSpPr>
        <p:spPr>
          <a:xfrm rot="0">
            <a:off x="1722830" y="3042299"/>
            <a:ext cx="15147141" cy="5934710"/>
          </a:xfrm>
          <a:prstGeom prst="rect">
            <a:avLst/>
          </a:prstGeom>
        </p:spPr>
        <p:txBody>
          <a:bodyPr anchor="t" rtlCol="false" tIns="0" lIns="0" bIns="0" rIns="0">
            <a:spAutoFit/>
          </a:bodyPr>
          <a:lstStyle/>
          <a:p>
            <a:pPr algn="just">
              <a:lnSpc>
                <a:spcPts val="3639"/>
              </a:lnSpc>
            </a:pPr>
            <a:r>
              <a:rPr lang="en-US" b="true" sz="2599">
                <a:solidFill>
                  <a:srgbClr val="36211B"/>
                </a:solidFill>
                <a:latin typeface="Canva Sans Bold"/>
                <a:ea typeface="Canva Sans Bold"/>
                <a:cs typeface="Canva Sans Bold"/>
                <a:sym typeface="Canva Sans Bold"/>
              </a:rPr>
              <a:t>[1] Zagrouba, E., &amp; Barhoumi, W. (2005). ”A preliminary system for skin lesion segmen</a:t>
            </a:r>
            <a:r>
              <a:rPr lang="en-US" b="true" sz="2599">
                <a:solidFill>
                  <a:srgbClr val="36211B"/>
                </a:solidFill>
                <a:latin typeface="Canva Sans Bold"/>
                <a:ea typeface="Canva Sans Bold"/>
                <a:cs typeface="Canva Sans Bold"/>
                <a:sym typeface="Canva Sans Bold"/>
              </a:rPr>
              <a:t>tation using texture analysis,” 3rd International Conference: Sciences of Electronic, Technologies of Information and Telecommunications (SETIT).</a:t>
            </a:r>
          </a:p>
          <a:p>
            <a:pPr algn="just">
              <a:lnSpc>
                <a:spcPts val="3639"/>
              </a:lnSpc>
            </a:pPr>
            <a:r>
              <a:rPr lang="en-US" b="true" sz="2599">
                <a:solidFill>
                  <a:srgbClr val="36211B"/>
                </a:solidFill>
                <a:latin typeface="Canva Sans Bold"/>
                <a:ea typeface="Canva Sans Bold"/>
                <a:cs typeface="Canva Sans Bold"/>
                <a:sym typeface="Canva Sans Bold"/>
              </a:rPr>
              <a:t>[2] Rinki Tyagi, Nihal Singh, Akanksha Baghel, Ankita Singh, “Resume Builder Application”, ISSN: 2321- 9653; IC Value: 45.98; SJ Impact Factor:7.429, Volume 8 Issue V May 2020. </a:t>
            </a:r>
          </a:p>
          <a:p>
            <a:pPr algn="just">
              <a:lnSpc>
                <a:spcPts val="3639"/>
              </a:lnSpc>
            </a:pPr>
            <a:r>
              <a:rPr lang="en-US" b="true" sz="2599">
                <a:solidFill>
                  <a:srgbClr val="36211B"/>
                </a:solidFill>
                <a:latin typeface="Canva Sans Bold"/>
                <a:ea typeface="Canva Sans Bold"/>
                <a:cs typeface="Canva Sans Bold"/>
                <a:sym typeface="Canva Sans Bold"/>
              </a:rPr>
              <a:t>[3] Esteva, A., Kuprel, B., Novoa, R. A., Ko, J., Swetter, S. M., Blau, H. M., &amp; Thrun, S. (2017). “Dermatologist-level classification of skin cancer with deep neural networks,” Nature, 542(7639), 115-118. </a:t>
            </a:r>
          </a:p>
          <a:p>
            <a:pPr algn="just">
              <a:lnSpc>
                <a:spcPts val="3639"/>
              </a:lnSpc>
            </a:pPr>
            <a:r>
              <a:rPr lang="en-US" b="true" sz="2599">
                <a:solidFill>
                  <a:srgbClr val="36211B"/>
                </a:solidFill>
                <a:latin typeface="Canva Sans Bold"/>
                <a:ea typeface="Canva Sans Bold"/>
                <a:cs typeface="Canva Sans Bold"/>
                <a:sym typeface="Canva Sans Bold"/>
              </a:rPr>
              <a:t>[4] Howard, A. G., Zhu, M., Chen, B., et al. (2017). “MobileNets: Efficient con volutional neural networks for mobile vision applications,” arXiv preprin</a:t>
            </a:r>
            <a:r>
              <a:rPr lang="en-US" b="true" sz="2599">
                <a:solidFill>
                  <a:srgbClr val="36211B"/>
                </a:solidFill>
                <a:latin typeface="Canva Sans Bold"/>
                <a:ea typeface="Canva Sans Bold"/>
                <a:cs typeface="Canva Sans Bold"/>
                <a:sym typeface="Canva Sans Bold"/>
              </a:rPr>
              <a:t>t arXiv:1704.04861. </a:t>
            </a:r>
          </a:p>
          <a:p>
            <a:pPr algn="just">
              <a:lnSpc>
                <a:spcPts val="3639"/>
              </a:lnSpc>
            </a:pPr>
            <a:r>
              <a:rPr lang="en-US" b="true" sz="2599">
                <a:solidFill>
                  <a:srgbClr val="36211B"/>
                </a:solidFill>
                <a:latin typeface="Canva Sans Bold"/>
                <a:ea typeface="Canva Sans Bold"/>
                <a:cs typeface="Canva Sans Bold"/>
                <a:sym typeface="Canva Sans Bold"/>
              </a:rPr>
              <a:t>[5] Sandler, M., Howard, A., Zhu, M., Zhmoginov, A., &amp; Chen, L. C. (2018). “MobileNetV2: Inverted residuals and linear bottlenecks,” In Proceedings of the IEEE conference on computer vision and pattern recognition (pp. 4510-4520).</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3029214"/>
            <a:ext cx="18288000" cy="6158912"/>
            <a:chOff x="0" y="0"/>
            <a:chExt cx="24384000" cy="8211882"/>
          </a:xfrm>
        </p:grpSpPr>
        <p:sp>
          <p:nvSpPr>
            <p:cNvPr name="Freeform 4" id="4"/>
            <p:cNvSpPr/>
            <p:nvPr/>
          </p:nvSpPr>
          <p:spPr>
            <a:xfrm flipH="false" flipV="false" rot="0">
              <a:off x="0" y="0"/>
              <a:ext cx="24384000" cy="8211820"/>
            </a:xfrm>
            <a:custGeom>
              <a:avLst/>
              <a:gdLst/>
              <a:ahLst/>
              <a:cxnLst/>
              <a:rect r="r" b="b" t="t" l="l"/>
              <a:pathLst>
                <a:path h="8211820" w="24384000">
                  <a:moveTo>
                    <a:pt x="0" y="0"/>
                  </a:moveTo>
                  <a:lnTo>
                    <a:pt x="24384000" y="0"/>
                  </a:lnTo>
                  <a:lnTo>
                    <a:pt x="24384000" y="8211820"/>
                  </a:lnTo>
                  <a:lnTo>
                    <a:pt x="0" y="8211820"/>
                  </a:lnTo>
                  <a:close/>
                </a:path>
              </a:pathLst>
            </a:custGeom>
            <a:gradFill rotWithShape="true">
              <a:gsLst>
                <a:gs pos="0">
                  <a:srgbClr val="DFDBD5">
                    <a:alpha val="0"/>
                  </a:srgbClr>
                </a:gs>
                <a:gs pos="100000">
                  <a:srgbClr val="DFDBD5">
                    <a:alpha val="100000"/>
                  </a:srgbClr>
                </a:gs>
              </a:gsLst>
              <a:lin ang="5400000"/>
            </a:gradFill>
          </p:spPr>
        </p:sp>
      </p:grpSp>
      <p:sp>
        <p:nvSpPr>
          <p:cNvPr name="Freeform 5" id="5"/>
          <p:cNvSpPr/>
          <p:nvPr/>
        </p:nvSpPr>
        <p:spPr>
          <a:xfrm flipH="false" flipV="false" rot="0">
            <a:off x="0" y="9189720"/>
            <a:ext cx="18288000" cy="1114425"/>
          </a:xfrm>
          <a:custGeom>
            <a:avLst/>
            <a:gdLst/>
            <a:ahLst/>
            <a:cxnLst/>
            <a:rect r="r" b="b" t="t" l="l"/>
            <a:pathLst>
              <a:path h="1114425" w="18288000">
                <a:moveTo>
                  <a:pt x="0" y="0"/>
                </a:moveTo>
                <a:lnTo>
                  <a:pt x="18288000" y="0"/>
                </a:lnTo>
                <a:lnTo>
                  <a:pt x="18288000" y="1114425"/>
                </a:lnTo>
                <a:lnTo>
                  <a:pt x="0" y="1114425"/>
                </a:lnTo>
                <a:lnTo>
                  <a:pt x="0" y="0"/>
                </a:lnTo>
                <a:close/>
              </a:path>
            </a:pathLst>
          </a:custGeom>
          <a:blipFill>
            <a:blip r:embed="rId4"/>
            <a:stretch>
              <a:fillRect l="0" t="-1538" r="0" b="1537"/>
            </a:stretch>
          </a:blipFill>
        </p:spPr>
      </p:sp>
      <p:sp>
        <p:nvSpPr>
          <p:cNvPr name="AutoShape 6" id="6"/>
          <p:cNvSpPr/>
          <p:nvPr/>
        </p:nvSpPr>
        <p:spPr>
          <a:xfrm rot="3577">
            <a:off x="-9530" y="9192620"/>
            <a:ext cx="18307060" cy="0"/>
          </a:xfrm>
          <a:prstGeom prst="line">
            <a:avLst/>
          </a:prstGeom>
          <a:ln cap="rnd" w="9525">
            <a:solidFill>
              <a:srgbClr val="000001">
                <a:alpha val="19608"/>
              </a:srgbClr>
            </a:solidFill>
            <a:prstDash val="solid"/>
            <a:headEnd type="none" len="sm" w="sm"/>
            <a:tailEnd type="none" len="sm" w="sm"/>
          </a:ln>
        </p:spPr>
      </p:sp>
      <p:sp>
        <p:nvSpPr>
          <p:cNvPr name="AutoShape 7" id="7"/>
          <p:cNvSpPr/>
          <p:nvPr/>
        </p:nvSpPr>
        <p:spPr>
          <a:xfrm rot="11323">
            <a:off x="2156992" y="2761107"/>
            <a:ext cx="14458986" cy="0"/>
          </a:xfrm>
          <a:prstGeom prst="line">
            <a:avLst/>
          </a:prstGeom>
          <a:ln cap="rnd" w="28575">
            <a:solidFill>
              <a:srgbClr val="B71E42"/>
            </a:solidFill>
            <a:prstDash val="solid"/>
            <a:headEnd type="none" len="sm" w="sm"/>
            <a:tailEnd type="none" len="sm" w="sm"/>
          </a:ln>
        </p:spPr>
      </p:sp>
      <p:grpSp>
        <p:nvGrpSpPr>
          <p:cNvPr name="Group 8" id="8"/>
          <p:cNvGrpSpPr/>
          <p:nvPr/>
        </p:nvGrpSpPr>
        <p:grpSpPr>
          <a:xfrm rot="0">
            <a:off x="5026596" y="4119715"/>
            <a:ext cx="8234808" cy="1573852"/>
            <a:chOff x="0" y="0"/>
            <a:chExt cx="10979744" cy="2098470"/>
          </a:xfrm>
        </p:grpSpPr>
        <p:sp>
          <p:nvSpPr>
            <p:cNvPr name="Freeform 9" id="9"/>
            <p:cNvSpPr/>
            <p:nvPr/>
          </p:nvSpPr>
          <p:spPr>
            <a:xfrm flipH="false" flipV="false" rot="0">
              <a:off x="0" y="0"/>
              <a:ext cx="10979744" cy="2098470"/>
            </a:xfrm>
            <a:custGeom>
              <a:avLst/>
              <a:gdLst/>
              <a:ahLst/>
              <a:cxnLst/>
              <a:rect r="r" b="b" t="t" l="l"/>
              <a:pathLst>
                <a:path h="2098470" w="10979744">
                  <a:moveTo>
                    <a:pt x="0" y="0"/>
                  </a:moveTo>
                  <a:lnTo>
                    <a:pt x="10979744" y="0"/>
                  </a:lnTo>
                  <a:lnTo>
                    <a:pt x="10979744" y="2098470"/>
                  </a:lnTo>
                  <a:lnTo>
                    <a:pt x="0" y="2098470"/>
                  </a:lnTo>
                  <a:close/>
                </a:path>
              </a:pathLst>
            </a:custGeom>
            <a:solidFill>
              <a:srgbClr val="000000">
                <a:alpha val="0"/>
              </a:srgbClr>
            </a:solidFill>
          </p:spPr>
        </p:sp>
        <p:sp>
          <p:nvSpPr>
            <p:cNvPr name="TextBox 10" id="10"/>
            <p:cNvSpPr txBox="true"/>
            <p:nvPr/>
          </p:nvSpPr>
          <p:spPr>
            <a:xfrm>
              <a:off x="0" y="-76200"/>
              <a:ext cx="10979744" cy="2174670"/>
            </a:xfrm>
            <a:prstGeom prst="rect">
              <a:avLst/>
            </a:prstGeom>
          </p:spPr>
          <p:txBody>
            <a:bodyPr anchor="t" rtlCol="false" tIns="0" lIns="0" bIns="0" rIns="0"/>
            <a:lstStyle/>
            <a:p>
              <a:pPr algn="l">
                <a:lnSpc>
                  <a:spcPts val="10692"/>
                </a:lnSpc>
              </a:pPr>
              <a:r>
                <a:rPr lang="en-US" sz="9900">
                  <a:solidFill>
                    <a:srgbClr val="000000"/>
                  </a:solidFill>
                  <a:latin typeface="Times New Roman"/>
                  <a:ea typeface="Times New Roman"/>
                  <a:cs typeface="Times New Roman"/>
                  <a:sym typeface="Times New Roman"/>
                </a:rPr>
                <a:t>Thank You !</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DAGq8xjpxlw</dc:identifier>
  <dcterms:modified xsi:type="dcterms:W3CDTF">2011-08-01T06:04:30Z</dcterms:modified>
  <cp:revision>1</cp:revision>
  <dc:title>Content</dc:title>
</cp:coreProperties>
</file>